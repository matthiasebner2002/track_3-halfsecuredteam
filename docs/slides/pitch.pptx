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are HalfSecuredTeam and we built an automated Health Data Access Body for the European Health Data Space: an app that decides health-data requests the way the law requires, and shows exactly why. (≈10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know the medicine and what they want to find out, but not how to query a database. Engineers can write the query but do not know the medical codes or whether the purpose is even allowed. And the access body in between has to check every request against the regulation and protect patients. Today that takes weeks. We sit at the intersection of all three. (≈20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did we do about it? Researchers write the request in plain words, in any EU language, and if they cannot phrase the definitions, one click drafts them. Engineers are out of the loop: fixed rules turn the definitions into SQL, and an AI only steps in where the rules give up, under the same checks. And the access body gets a decision that quotes the article from the regulation, with the privacy rules enforced inside the query and records locked in a secure room. Seconds instead of weeks, and the same answer every time. (≈25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in any EU language is translated once. An AI picks the matching rule from the actual law text and quotes it. Prohibited purposes are rejected with the quote. Approved requests are parsed by rules into SQL; statistics go through the small-cell rule, record requests are copied into a secure room with no download. Anyone flooding the service is blocked. (≈20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better than a black box? There is no technical burden: the applicant writes in plain words and the AI even drafts the definitions. Every decision quotes the article verbatim, so it is explainable. The numbers come from code, not from the AI, so they are the same every run. Privacy rules are enforced inside the query, and everything is logged. (≈20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in four steps and one attack. (switch to screen capture; ≈50 s)</a:t>
            </a:r>
          </a:p>
          <a:p>
            <a:r>
              <a:t>R02: the insurer. Submit. Rejected, Art. 54(b), quoted.</a:t>
            </a:r>
          </a:p>
          <a:p>
            <a:r>
              <a:t>R01: diabetes by region. Submit. The table, with the small-cell note.</a:t>
            </a:r>
          </a:p>
          <a:p>
            <a:r>
              <a:t>R11: the same request in German. The decision shows the English text next to it.</a:t>
            </a:r>
          </a:p>
          <a:p>
            <a:r>
              <a:t>R12: records for a prediction model. Approved into the secure room; open it, browse; click Download: 403, logged.</a:t>
            </a:r>
          </a:p>
          <a:p>
            <a:r>
              <a:t>Finally run flood.py in a terminal: 20 served, then 429 with Retry-After.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works: all ten task decisions, all six numbers, no leaks, consistent across runs, and 34 of 36 requests we had never seen. What does not yet: the law check is sometimes too strict, and the staff list is still a placeholder. Everything is in the repository. Thank you. (≈15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463040"/>
          </a:xfrm>
          <a:prstGeom prst="rect">
            <a:avLst/>
          </a:prstGeom>
          <a:noFill/>
        </p:spPr>
        <p:txBody>
          <a:bodyPr wrap="square" anchor="t" lIns="45720" rIns="45720">
            <a:spAutoFit/>
          </a:bodyPr>
          <a:lstStyle/>
          <a:p>
            <a:pPr algn="l"/>
            <a:r>
              <a:rPr sz="4000" b="1">
                <a:solidFill>
                  <a:srgbClr val="FFFFFF"/>
                </a:solidFill>
                <a:latin typeface="Inter"/>
              </a:rPr>
              <a:t>Health data access that explains itself</a:t>
            </a:r>
          </a:p>
        </p:txBody>
      </p:sp>
      <p:sp>
        <p:nvSpPr>
          <p:cNvPr id="4" name="TextBox 3"/>
          <p:cNvSpPr txBox="1"/>
          <p:nvPr/>
        </p:nvSpPr>
        <p:spPr>
          <a:xfrm>
            <a:off x="822960" y="3291840"/>
            <a:ext cx="10515600" cy="914400"/>
          </a:xfrm>
          <a:prstGeom prst="rect">
            <a:avLst/>
          </a:prstGeom>
          <a:noFill/>
        </p:spPr>
        <p:txBody>
          <a:bodyPr wrap="square" anchor="t" lIns="45720" rIns="45720">
            <a:spAutoFit/>
          </a:bodyPr>
          <a:lstStyle/>
          <a:p>
            <a:pPr algn="l"/>
            <a:r>
              <a:rPr sz="2200" b="0">
                <a:solidFill>
                  <a:srgbClr val="DBE6F3"/>
                </a:solidFill>
                <a:latin typeface="Inter"/>
              </a:rPr>
              <a:t>An automated Health Data Access Body for the European Health Data Space</a:t>
            </a:r>
          </a:p>
        </p:txBody>
      </p:sp>
      <p:sp>
        <p:nvSpPr>
          <p:cNvPr id="5" name="TextBox 4"/>
          <p:cNvSpPr txBox="1"/>
          <p:nvPr/>
        </p:nvSpPr>
        <p:spPr>
          <a:xfrm>
            <a:off x="822960" y="5120640"/>
            <a:ext cx="10515600" cy="457200"/>
          </a:xfrm>
          <a:prstGeom prst="rect">
            <a:avLst/>
          </a:prstGeom>
          <a:noFill/>
        </p:spPr>
        <p:txBody>
          <a:bodyPr wrap="square" anchor="t" lIns="45720" rIns="45720">
            <a:spAutoFit/>
          </a:bodyPr>
          <a:lstStyle/>
          <a:p>
            <a:pPr algn="l"/>
            <a:r>
              <a:rPr sz="1600" b="0">
                <a:solidFill>
                  <a:srgbClr val="DBE6F3"/>
                </a:solidFill>
                <a:latin typeface="Inter"/>
              </a:rPr>
              <a:t>HalfSecuredTeam · Track 3 · Regulation (EU) 2025/327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The problem: slow access, two kinds of people</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researchers, engineers and the access body</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463040"/>
            <a:ext cx="3474720" cy="3291840"/>
          </a:xfrm>
          <a:prstGeom prst="roundRect">
            <a:avLst>
              <a:gd name="adj" fmla="val 8000"/>
            </a:avLst>
          </a:prstGeom>
          <a:solidFill>
            <a:srgbClr val="F6F7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3017520" cy="457200"/>
          </a:xfrm>
          <a:prstGeom prst="rect">
            <a:avLst/>
          </a:prstGeom>
          <a:noFill/>
        </p:spPr>
        <p:txBody>
          <a:bodyPr wrap="square" anchor="t" lIns="45720" rIns="45720">
            <a:spAutoFit/>
          </a:bodyPr>
          <a:lstStyle/>
          <a:p>
            <a:pPr algn="l"/>
            <a:r>
              <a:rPr sz="2000" b="1">
                <a:solidFill>
                  <a:srgbClr val="1565C0"/>
                </a:solidFill>
                <a:latin typeface="Inter"/>
              </a:rPr>
              <a:t>Researchers</a:t>
            </a:r>
          </a:p>
        </p:txBody>
      </p:sp>
      <p:sp>
        <p:nvSpPr>
          <p:cNvPr id="8" name="TextBox 7"/>
          <p:cNvSpPr txBox="1"/>
          <p:nvPr/>
        </p:nvSpPr>
        <p:spPr>
          <a:xfrm>
            <a:off x="77724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know the medicine and the question</a:t>
            </a:r>
          </a:p>
          <a:p>
            <a:pPr>
              <a:spcAft>
                <a:spcPts val="600"/>
              </a:spcAft>
            </a:pPr>
            <a:r>
              <a:rPr sz="1600" b="1">
                <a:solidFill>
                  <a:srgbClr val="1F2A37"/>
                </a:solidFill>
                <a:latin typeface="Inter"/>
              </a:rPr>
              <a:t>•  do not write database queries</a:t>
            </a:r>
          </a:p>
          <a:p>
            <a:pPr>
              <a:spcAft>
                <a:spcPts val="600"/>
              </a:spcAft>
            </a:pPr>
            <a:r>
              <a:rPr sz="1600" b="1">
                <a:solidFill>
                  <a:srgbClr val="1F2A37"/>
                </a:solidFill>
                <a:latin typeface="Inter"/>
              </a:rPr>
              <a:t>•  often only know what they want to achieve</a:t>
            </a:r>
          </a:p>
        </p:txBody>
      </p:sp>
      <p:sp>
        <p:nvSpPr>
          <p:cNvPr id="9" name="Rounded Rectangle 8"/>
          <p:cNvSpPr/>
          <p:nvPr/>
        </p:nvSpPr>
        <p:spPr>
          <a:xfrm>
            <a:off x="4343400" y="1463040"/>
            <a:ext cx="3474720" cy="3291840"/>
          </a:xfrm>
          <a:prstGeom prst="roundRect">
            <a:avLst>
              <a:gd name="adj" fmla="val 8000"/>
            </a:avLst>
          </a:prstGeom>
          <a:solidFill>
            <a:srgbClr val="F6F7F9"/>
          </a:solidFill>
          <a:ln w="1905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45920"/>
            <a:ext cx="3017520" cy="457200"/>
          </a:xfrm>
          <a:prstGeom prst="rect">
            <a:avLst/>
          </a:prstGeom>
          <a:noFill/>
        </p:spPr>
        <p:txBody>
          <a:bodyPr wrap="square" anchor="t" lIns="45720" rIns="45720">
            <a:spAutoFit/>
          </a:bodyPr>
          <a:lstStyle/>
          <a:p>
            <a:pPr algn="l"/>
            <a:r>
              <a:rPr sz="2000" b="1">
                <a:solidFill>
                  <a:srgbClr val="F0B429"/>
                </a:solidFill>
                <a:latin typeface="Inter"/>
              </a:rPr>
              <a:t>Engineers</a:t>
            </a:r>
          </a:p>
        </p:txBody>
      </p:sp>
      <p:sp>
        <p:nvSpPr>
          <p:cNvPr id="11" name="TextBox 10"/>
          <p:cNvSpPr txBox="1"/>
          <p:nvPr/>
        </p:nvSpPr>
        <p:spPr>
          <a:xfrm>
            <a:off x="457200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write the queries</a:t>
            </a:r>
          </a:p>
          <a:p>
            <a:pPr>
              <a:spcAft>
                <a:spcPts val="600"/>
              </a:spcAft>
            </a:pPr>
            <a:r>
              <a:rPr sz="1600" b="1">
                <a:solidFill>
                  <a:srgbClr val="1F2A37"/>
                </a:solidFill>
                <a:latin typeface="Inter"/>
              </a:rPr>
              <a:t>•  do not know ICD-10 from ATC</a:t>
            </a:r>
          </a:p>
          <a:p>
            <a:pPr>
              <a:spcAft>
                <a:spcPts val="600"/>
              </a:spcAft>
            </a:pPr>
            <a:r>
              <a:rPr sz="1600" b="1">
                <a:solidFill>
                  <a:srgbClr val="1F2A37"/>
                </a:solidFill>
                <a:latin typeface="Inter"/>
              </a:rPr>
              <a:t>•  cannot judge if a purpose is lawful</a:t>
            </a:r>
          </a:p>
        </p:txBody>
      </p:sp>
      <p:sp>
        <p:nvSpPr>
          <p:cNvPr id="12" name="Rounded Rectangle 11"/>
          <p:cNvSpPr/>
          <p:nvPr/>
        </p:nvSpPr>
        <p:spPr>
          <a:xfrm>
            <a:off x="8138160" y="1463040"/>
            <a:ext cx="3474720" cy="329184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645920"/>
            <a:ext cx="3017520" cy="457200"/>
          </a:xfrm>
          <a:prstGeom prst="rect">
            <a:avLst/>
          </a:prstGeom>
          <a:noFill/>
        </p:spPr>
        <p:txBody>
          <a:bodyPr wrap="square" anchor="t" lIns="45720" rIns="45720">
            <a:spAutoFit/>
          </a:bodyPr>
          <a:lstStyle/>
          <a:p>
            <a:pPr algn="l"/>
            <a:r>
              <a:rPr sz="2000" b="1">
                <a:solidFill>
                  <a:srgbClr val="C62828"/>
                </a:solidFill>
                <a:latin typeface="Inter"/>
              </a:rPr>
              <a:t>The access body</a:t>
            </a:r>
          </a:p>
        </p:txBody>
      </p:sp>
      <p:sp>
        <p:nvSpPr>
          <p:cNvPr id="14" name="TextBox 13"/>
          <p:cNvSpPr txBox="1"/>
          <p:nvPr/>
        </p:nvSpPr>
        <p:spPr>
          <a:xfrm>
            <a:off x="836676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must decide every request against the law</a:t>
            </a:r>
          </a:p>
          <a:p>
            <a:pPr>
              <a:spcAft>
                <a:spcPts val="600"/>
              </a:spcAft>
            </a:pPr>
            <a:r>
              <a:rPr sz="1600" b="1">
                <a:solidFill>
                  <a:srgbClr val="1F2A37"/>
                </a:solidFill>
                <a:latin typeface="Inter"/>
              </a:rPr>
              <a:t>•  must protect patients: small groups, opt-outs</a:t>
            </a:r>
          </a:p>
          <a:p>
            <a:pPr>
              <a:spcAft>
                <a:spcPts val="600"/>
              </a:spcAft>
            </a:pPr>
            <a:r>
              <a:rPr sz="1600" b="1">
                <a:solidFill>
                  <a:srgbClr val="1F2A37"/>
                </a:solidFill>
                <a:latin typeface="Inter"/>
              </a:rPr>
              <a:t>•  today: weeks of manual work</a:t>
            </a:r>
          </a:p>
        </p:txBody>
      </p:sp>
      <p:sp>
        <p:nvSpPr>
          <p:cNvPr id="15" name="Rounded Rectangle 14"/>
          <p:cNvSpPr/>
          <p:nvPr/>
        </p:nvSpPr>
        <p:spPr>
          <a:xfrm>
            <a:off x="548640" y="5074920"/>
            <a:ext cx="11064240" cy="100584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120640"/>
            <a:ext cx="10515600" cy="914400"/>
          </a:xfrm>
          <a:prstGeom prst="rect">
            <a:avLst/>
          </a:prstGeom>
          <a:noFill/>
        </p:spPr>
        <p:txBody>
          <a:bodyPr wrap="square" anchor="ctr" lIns="45720" rIns="45720">
            <a:spAutoFit/>
          </a:bodyPr>
          <a:lstStyle/>
          <a:p>
            <a:pPr algn="l"/>
            <a:r>
              <a:rPr sz="2000" b="1">
                <a:solidFill>
                  <a:srgbClr val="FFFFFF"/>
                </a:solidFill>
                <a:latin typeface="Inter"/>
              </a:rPr>
              <a:t>We sit at the intersection: plain words in, a lawful, explained, privacy-safe answer out.</a:t>
            </a:r>
          </a:p>
        </p:txBody>
      </p:sp>
      <p:sp>
        <p:nvSpPr>
          <p:cNvPr id="17" name="TextBox 1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we did about it</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the same three people, one app</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371600"/>
            <a:ext cx="3474720" cy="3566160"/>
          </a:xfrm>
          <a:prstGeom prst="roundRect">
            <a:avLst>
              <a:gd name="adj" fmla="val 8000"/>
            </a:avLst>
          </a:prstGeom>
          <a:solidFill>
            <a:srgbClr val="F6F7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54480"/>
            <a:ext cx="3017520" cy="457200"/>
          </a:xfrm>
          <a:prstGeom prst="rect">
            <a:avLst/>
          </a:prstGeom>
          <a:noFill/>
        </p:spPr>
        <p:txBody>
          <a:bodyPr wrap="square" anchor="t" lIns="45720" rIns="45720">
            <a:spAutoFit/>
          </a:bodyPr>
          <a:lstStyle/>
          <a:p>
            <a:pPr algn="l"/>
            <a:r>
              <a:rPr sz="2000" b="1">
                <a:solidFill>
                  <a:srgbClr val="1565C0"/>
                </a:solidFill>
                <a:latin typeface="Inter"/>
              </a:rPr>
              <a:t>Researchers</a:t>
            </a:r>
          </a:p>
        </p:txBody>
      </p:sp>
      <p:sp>
        <p:nvSpPr>
          <p:cNvPr id="8" name="TextBox 7"/>
          <p:cNvSpPr txBox="1"/>
          <p:nvPr/>
        </p:nvSpPr>
        <p:spPr>
          <a:xfrm>
            <a:off x="777240" y="2103120"/>
            <a:ext cx="3017520" cy="2651760"/>
          </a:xfrm>
          <a:prstGeom prst="rect">
            <a:avLst/>
          </a:prstGeom>
          <a:noFill/>
        </p:spPr>
        <p:txBody>
          <a:bodyPr wrap="square">
            <a:spAutoFit/>
          </a:bodyPr>
          <a:lstStyle/>
          <a:p>
            <a:pPr>
              <a:spcAft>
                <a:spcPts val="800"/>
              </a:spcAft>
            </a:pPr>
            <a:r>
              <a:rPr sz="1500" b="1">
                <a:solidFill>
                  <a:srgbClr val="1F2A37"/>
                </a:solidFill>
                <a:latin typeface="Inter"/>
              </a:rPr>
              <a:t>•  write the request in plain words, in any EU language</a:t>
            </a:r>
          </a:p>
          <a:p>
            <a:pPr>
              <a:spcAft>
                <a:spcPts val="800"/>
              </a:spcAft>
            </a:pPr>
            <a:r>
              <a:rPr sz="1500" b="1">
                <a:solidFill>
                  <a:srgbClr val="1F2A37"/>
                </a:solidFill>
                <a:latin typeface="Inter"/>
              </a:rPr>
              <a:t>•  one click: the AI drafts the definitions they could not phrase</a:t>
            </a:r>
          </a:p>
          <a:p>
            <a:pPr>
              <a:spcAft>
                <a:spcPts val="800"/>
              </a:spcAft>
            </a:pPr>
            <a:r>
              <a:rPr sz="1500" b="1">
                <a:solidFill>
                  <a:srgbClr val="1F2A37"/>
                </a:solidFill>
                <a:latin typeface="Inter"/>
              </a:rPr>
              <a:t>•  the answer comes back in seconds, with the reason</a:t>
            </a:r>
          </a:p>
        </p:txBody>
      </p:sp>
      <p:sp>
        <p:nvSpPr>
          <p:cNvPr id="9" name="Rounded Rectangle 8"/>
          <p:cNvSpPr/>
          <p:nvPr/>
        </p:nvSpPr>
        <p:spPr>
          <a:xfrm>
            <a:off x="4343400" y="1371600"/>
            <a:ext cx="3474720" cy="3566160"/>
          </a:xfrm>
          <a:prstGeom prst="roundRect">
            <a:avLst>
              <a:gd name="adj" fmla="val 8000"/>
            </a:avLst>
          </a:prstGeom>
          <a:solidFill>
            <a:srgbClr val="F6F7F9"/>
          </a:solidFill>
          <a:ln w="1905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554480"/>
            <a:ext cx="3017520" cy="457200"/>
          </a:xfrm>
          <a:prstGeom prst="rect">
            <a:avLst/>
          </a:prstGeom>
          <a:noFill/>
        </p:spPr>
        <p:txBody>
          <a:bodyPr wrap="square" anchor="t" lIns="45720" rIns="45720">
            <a:spAutoFit/>
          </a:bodyPr>
          <a:lstStyle/>
          <a:p>
            <a:pPr algn="l"/>
            <a:r>
              <a:rPr sz="2000" b="1">
                <a:solidFill>
                  <a:srgbClr val="F0B429"/>
                </a:solidFill>
                <a:latin typeface="Inter"/>
              </a:rPr>
              <a:t>Engineers</a:t>
            </a:r>
          </a:p>
        </p:txBody>
      </p:sp>
      <p:sp>
        <p:nvSpPr>
          <p:cNvPr id="11" name="TextBox 10"/>
          <p:cNvSpPr txBox="1"/>
          <p:nvPr/>
        </p:nvSpPr>
        <p:spPr>
          <a:xfrm>
            <a:off x="4572000" y="2103120"/>
            <a:ext cx="3017520" cy="2651760"/>
          </a:xfrm>
          <a:prstGeom prst="rect">
            <a:avLst/>
          </a:prstGeom>
          <a:noFill/>
        </p:spPr>
        <p:txBody>
          <a:bodyPr wrap="square">
            <a:spAutoFit/>
          </a:bodyPr>
          <a:lstStyle/>
          <a:p>
            <a:pPr>
              <a:spcAft>
                <a:spcPts val="800"/>
              </a:spcAft>
            </a:pPr>
            <a:r>
              <a:rPr sz="1500" b="1">
                <a:solidFill>
                  <a:srgbClr val="1F2A37"/>
                </a:solidFill>
                <a:latin typeface="Inter"/>
              </a:rPr>
              <a:t>•  no one writes a query per request</a:t>
            </a:r>
          </a:p>
          <a:p>
            <a:pPr>
              <a:spcAft>
                <a:spcPts val="800"/>
              </a:spcAft>
            </a:pPr>
            <a:r>
              <a:rPr sz="1500" b="1">
                <a:solidFill>
                  <a:srgbClr val="1F2A37"/>
                </a:solidFill>
                <a:latin typeface="Inter"/>
              </a:rPr>
              <a:t>•  fixed rules turn the definitions into SQL; codes come from the request</a:t>
            </a:r>
          </a:p>
          <a:p>
            <a:pPr>
              <a:spcAft>
                <a:spcPts val="800"/>
              </a:spcAft>
            </a:pPr>
            <a:r>
              <a:rPr sz="1500" b="1">
                <a:solidFill>
                  <a:srgbClr val="1F2A37"/>
                </a:solidFill>
                <a:latin typeface="Inter"/>
              </a:rPr>
              <a:t>•  an LLM steps in only where the rules give up, under the same checks</a:t>
            </a:r>
          </a:p>
        </p:txBody>
      </p:sp>
      <p:sp>
        <p:nvSpPr>
          <p:cNvPr id="12" name="Rounded Rectangle 11"/>
          <p:cNvSpPr/>
          <p:nvPr/>
        </p:nvSpPr>
        <p:spPr>
          <a:xfrm>
            <a:off x="8138160" y="1371600"/>
            <a:ext cx="3474720" cy="356616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554480"/>
            <a:ext cx="3017520" cy="457200"/>
          </a:xfrm>
          <a:prstGeom prst="rect">
            <a:avLst/>
          </a:prstGeom>
          <a:noFill/>
        </p:spPr>
        <p:txBody>
          <a:bodyPr wrap="square" anchor="t" lIns="45720" rIns="45720">
            <a:spAutoFit/>
          </a:bodyPr>
          <a:lstStyle/>
          <a:p>
            <a:pPr algn="l"/>
            <a:r>
              <a:rPr sz="2000" b="1">
                <a:solidFill>
                  <a:srgbClr val="C62828"/>
                </a:solidFill>
                <a:latin typeface="Inter"/>
              </a:rPr>
              <a:t>The access body</a:t>
            </a:r>
          </a:p>
        </p:txBody>
      </p:sp>
      <p:sp>
        <p:nvSpPr>
          <p:cNvPr id="14" name="TextBox 13"/>
          <p:cNvSpPr txBox="1"/>
          <p:nvPr/>
        </p:nvSpPr>
        <p:spPr>
          <a:xfrm>
            <a:off x="8366760" y="2103120"/>
            <a:ext cx="3017520" cy="2651760"/>
          </a:xfrm>
          <a:prstGeom prst="rect">
            <a:avLst/>
          </a:prstGeom>
          <a:noFill/>
        </p:spPr>
        <p:txBody>
          <a:bodyPr wrap="square">
            <a:spAutoFit/>
          </a:bodyPr>
          <a:lstStyle/>
          <a:p>
            <a:pPr>
              <a:spcAft>
                <a:spcPts val="800"/>
              </a:spcAft>
            </a:pPr>
            <a:r>
              <a:rPr sz="1500" b="1">
                <a:solidFill>
                  <a:srgbClr val="1F2A37"/>
                </a:solidFill>
                <a:latin typeface="Inter"/>
              </a:rPr>
              <a:t>•  the law check quotes the article, verbatim from the regulation</a:t>
            </a:r>
          </a:p>
          <a:p>
            <a:pPr>
              <a:spcAft>
                <a:spcPts val="800"/>
              </a:spcAft>
            </a:pPr>
            <a:r>
              <a:rPr sz="1500" b="1">
                <a:solidFill>
                  <a:srgbClr val="1F2A37"/>
                </a:solidFill>
                <a:latin typeface="Inter"/>
              </a:rPr>
              <a:t>•  small-cell rule and opt-outs enforced inside the query</a:t>
            </a:r>
          </a:p>
          <a:p>
            <a:pPr>
              <a:spcAft>
                <a:spcPts val="800"/>
              </a:spcAft>
            </a:pPr>
            <a:r>
              <a:rPr sz="1500" b="1">
                <a:solidFill>
                  <a:srgbClr val="1F2A37"/>
                </a:solidFill>
                <a:latin typeface="Inter"/>
              </a:rPr>
              <a:t>•  records only in a secure room: images, no download, audit log</a:t>
            </a:r>
          </a:p>
        </p:txBody>
      </p:sp>
      <p:sp>
        <p:nvSpPr>
          <p:cNvPr id="15" name="Rounded Rectangle 14"/>
          <p:cNvSpPr/>
          <p:nvPr/>
        </p:nvSpPr>
        <p:spPr>
          <a:xfrm>
            <a:off x="548640" y="5212080"/>
            <a:ext cx="11064240" cy="91440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10515600" cy="914400"/>
          </a:xfrm>
          <a:prstGeom prst="rect">
            <a:avLst/>
          </a:prstGeom>
          <a:noFill/>
        </p:spPr>
        <p:txBody>
          <a:bodyPr wrap="square" anchor="ctr" lIns="45720" rIns="45720">
            <a:spAutoFit/>
          </a:bodyPr>
          <a:lstStyle/>
          <a:p>
            <a:pPr algn="l"/>
            <a:r>
              <a:rPr sz="1800" b="1">
                <a:solidFill>
                  <a:srgbClr val="FFFFFF"/>
                </a:solidFill>
                <a:latin typeface="Inter"/>
              </a:rPr>
              <a:t>Decisions in seconds instead of weeks — every one of them explained, and identical on every run.</a:t>
            </a:r>
          </a:p>
        </p:txBody>
      </p:sp>
      <p:sp>
        <p:nvSpPr>
          <p:cNvPr id="17" name="TextBox 1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we built: one pipeline, three outcomes</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request → law check → statistics or secure room; attackers blocked</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pic>
        <p:nvPicPr>
          <p:cNvPr id="6" name="Picture 5" descr="how-it-works.png"/>
          <p:cNvPicPr>
            <a:picLocks noChangeAspect="1"/>
          </p:cNvPicPr>
          <p:nvPr/>
        </p:nvPicPr>
        <p:blipFill>
          <a:blip r:embed="rId2"/>
          <a:stretch>
            <a:fillRect/>
          </a:stretch>
        </p:blipFill>
        <p:spPr>
          <a:xfrm>
            <a:off x="365760" y="1218111"/>
            <a:ext cx="11430000" cy="5061857"/>
          </a:xfrm>
          <a:prstGeom prst="rect">
            <a:avLst/>
          </a:prstGeom>
        </p:spPr>
      </p:pic>
      <p:sp>
        <p:nvSpPr>
          <p:cNvPr id="7" name="TextBox 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Why this is better than a black box</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grounded, fast, consistent, safe</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TextBox 5"/>
          <p:cNvSpPr txBox="1"/>
          <p:nvPr/>
        </p:nvSpPr>
        <p:spPr>
          <a:xfrm>
            <a:off x="548640" y="1371600"/>
            <a:ext cx="5760720" cy="4572000"/>
          </a:xfrm>
          <a:prstGeom prst="rect">
            <a:avLst/>
          </a:prstGeom>
          <a:noFill/>
        </p:spPr>
        <p:txBody>
          <a:bodyPr wrap="square">
            <a:spAutoFit/>
          </a:bodyPr>
          <a:lstStyle/>
          <a:p>
            <a:pPr>
              <a:spcAft>
                <a:spcPts val="1000"/>
              </a:spcAft>
            </a:pPr>
            <a:r>
              <a:rPr sz="1700" b="1">
                <a:solidFill>
                  <a:srgbClr val="1F2A37"/>
                </a:solidFill>
                <a:latin typeface="Inter"/>
              </a:rPr>
              <a:t>•  No technical burden.</a:t>
            </a:r>
            <a:r>
              <a:rPr sz="1700">
                <a:solidFill>
                  <a:srgbClr val="5B6472"/>
                </a:solidFill>
                <a:latin typeface="Inter"/>
              </a:rPr>
              <a:t> Plain words in; the AI drafts the definitions the access body can compute.</a:t>
            </a:r>
          </a:p>
          <a:p>
            <a:pPr>
              <a:spcAft>
                <a:spcPts val="1000"/>
              </a:spcAft>
            </a:pPr>
            <a:r>
              <a:rPr sz="1700" b="1">
                <a:solidFill>
                  <a:srgbClr val="1F2A37"/>
                </a:solidFill>
                <a:latin typeface="Inter"/>
              </a:rPr>
              <a:t>•  Explainable, not a verdict.</a:t>
            </a:r>
            <a:r>
              <a:rPr sz="1700">
                <a:solidFill>
                  <a:srgbClr val="5B6472"/>
                </a:solidFill>
                <a:latin typeface="Inter"/>
              </a:rPr>
              <a:t> Every decision quotes the article, verbatim from the law text.</a:t>
            </a:r>
          </a:p>
          <a:p>
            <a:pPr>
              <a:spcAft>
                <a:spcPts val="1000"/>
              </a:spcAft>
            </a:pPr>
            <a:r>
              <a:rPr sz="1700" b="1">
                <a:solidFill>
                  <a:srgbClr val="1F2A37"/>
                </a:solidFill>
                <a:latin typeface="Inter"/>
              </a:rPr>
              <a:t>•  Numbers from code, not from the AI.</a:t>
            </a:r>
            <a:r>
              <a:rPr sz="1700">
                <a:solidFill>
                  <a:srgbClr val="5B6472"/>
                </a:solidFill>
                <a:latin typeface="Inter"/>
              </a:rPr>
              <a:t> Same answer on every run; 10/10 consistent across 3 runs.</a:t>
            </a:r>
          </a:p>
          <a:p>
            <a:pPr>
              <a:spcAft>
                <a:spcPts val="1000"/>
              </a:spcAft>
            </a:pPr>
            <a:r>
              <a:rPr sz="1700" b="1">
                <a:solidFill>
                  <a:srgbClr val="1F2A37"/>
                </a:solidFill>
                <a:latin typeface="Inter"/>
              </a:rPr>
              <a:t>•  Privacy enforced in the query.</a:t>
            </a:r>
            <a:r>
              <a:rPr sz="1700">
                <a:solidFill>
                  <a:srgbClr val="5B6472"/>
                </a:solidFill>
                <a:latin typeface="Inter"/>
              </a:rPr>
              <a:t> &lt;10, suppressed, opt-outs out — no answer can bypass it.</a:t>
            </a:r>
          </a:p>
          <a:p>
            <a:pPr>
              <a:spcAft>
                <a:spcPts val="1000"/>
              </a:spcAft>
            </a:pPr>
            <a:r>
              <a:rPr sz="1700" b="1">
                <a:solidFill>
                  <a:srgbClr val="1F2A37"/>
                </a:solidFill>
                <a:latin typeface="Inter"/>
              </a:rPr>
              <a:t>•  Any EU language, one rulebook.</a:t>
            </a:r>
            <a:r>
              <a:rPr sz="1700">
                <a:solidFill>
                  <a:srgbClr val="5B6472"/>
                </a:solidFill>
                <a:latin typeface="Inter"/>
              </a:rPr>
              <a:t> German, Swedish, Greek → English once, then the same checks.</a:t>
            </a:r>
          </a:p>
          <a:p>
            <a:pPr>
              <a:spcAft>
                <a:spcPts val="1000"/>
              </a:spcAft>
            </a:pPr>
            <a:r>
              <a:rPr sz="1700" b="1">
                <a:solidFill>
                  <a:srgbClr val="1F2A37"/>
                </a:solidFill>
                <a:latin typeface="Inter"/>
              </a:rPr>
              <a:t>•  Audit and abuse control.</a:t>
            </a:r>
            <a:r>
              <a:rPr sz="1700">
                <a:solidFill>
                  <a:srgbClr val="5B6472"/>
                </a:solidFill>
                <a:latin typeface="Inter"/>
              </a:rPr>
              <a:t> Every SPE action logged; flooding addresses blocked (429).</a:t>
            </a:r>
          </a:p>
        </p:txBody>
      </p:sp>
      <p:pic>
        <p:nvPicPr>
          <p:cNvPr id="7" name="Picture 6" descr="ui-reject.png"/>
          <p:cNvPicPr>
            <a:picLocks noChangeAspect="1"/>
          </p:cNvPicPr>
          <p:nvPr/>
        </p:nvPicPr>
        <p:blipFill>
          <a:blip r:embed="rId2"/>
          <a:stretch>
            <a:fillRect/>
          </a:stretch>
        </p:blipFill>
        <p:spPr>
          <a:xfrm>
            <a:off x="6583680" y="1505402"/>
            <a:ext cx="5212080" cy="4487275"/>
          </a:xfrm>
          <a:prstGeom prst="rect">
            <a:avLst/>
          </a:prstGeom>
        </p:spPr>
      </p:pic>
      <p:sp>
        <p:nvSpPr>
          <p:cNvPr id="8" name="TextBox 7"/>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10515600" cy="914400"/>
          </a:xfrm>
          <a:prstGeom prst="rect">
            <a:avLst/>
          </a:prstGeom>
          <a:noFill/>
        </p:spPr>
        <p:txBody>
          <a:bodyPr wrap="square" anchor="t" lIns="45720" rIns="45720">
            <a:spAutoFit/>
          </a:bodyPr>
          <a:lstStyle/>
          <a:p>
            <a:pPr algn="l"/>
            <a:r>
              <a:rPr sz="4400" b="1">
                <a:solidFill>
                  <a:srgbClr val="FFFFFF"/>
                </a:solidFill>
                <a:latin typeface="Inter"/>
              </a:rPr>
              <a:t>Demo</a:t>
            </a:r>
          </a:p>
        </p:txBody>
      </p:sp>
      <p:sp>
        <p:nvSpPr>
          <p:cNvPr id="4" name="Rounded Rectangle 3"/>
          <p:cNvSpPr/>
          <p:nvPr/>
        </p:nvSpPr>
        <p:spPr>
          <a:xfrm>
            <a:off x="82296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2377440"/>
            <a:ext cx="2103120" cy="64008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R02</a:t>
            </a:r>
          </a:p>
        </p:txBody>
      </p:sp>
      <p:sp>
        <p:nvSpPr>
          <p:cNvPr id="7" name="TextBox 6"/>
          <p:cNvSpPr txBox="1"/>
          <p:nvPr/>
        </p:nvSpPr>
        <p:spPr>
          <a:xfrm>
            <a:off x="960120" y="3154680"/>
            <a:ext cx="1828800" cy="1097280"/>
          </a:xfrm>
          <a:prstGeom prst="rect">
            <a:avLst/>
          </a:prstGeom>
          <a:noFill/>
        </p:spPr>
        <p:txBody>
          <a:bodyPr wrap="square" anchor="t" lIns="45720" rIns="45720">
            <a:spAutoFit/>
          </a:bodyPr>
          <a:lstStyle/>
          <a:p>
            <a:pPr algn="ctr"/>
            <a:r>
              <a:rPr sz="1500" b="0">
                <a:solidFill>
                  <a:srgbClr val="1F2A37"/>
                </a:solidFill>
                <a:latin typeface="Inter"/>
              </a:rPr>
              <a:t>Insurer wants to price premiums</a:t>
            </a:r>
          </a:p>
        </p:txBody>
      </p:sp>
      <p:sp>
        <p:nvSpPr>
          <p:cNvPr id="8" name="TextBox 7"/>
          <p:cNvSpPr txBox="1"/>
          <p:nvPr/>
        </p:nvSpPr>
        <p:spPr>
          <a:xfrm>
            <a:off x="960120" y="4206240"/>
            <a:ext cx="1828800" cy="1005840"/>
          </a:xfrm>
          <a:prstGeom prst="rect">
            <a:avLst/>
          </a:prstGeom>
          <a:noFill/>
        </p:spPr>
        <p:txBody>
          <a:bodyPr wrap="square" anchor="t" lIns="45720" rIns="45720">
            <a:spAutoFit/>
          </a:bodyPr>
          <a:lstStyle/>
          <a:p>
            <a:pPr algn="ctr"/>
            <a:r>
              <a:rPr sz="1500" b="1">
                <a:solidFill>
                  <a:srgbClr val="C62828"/>
                </a:solidFill>
                <a:latin typeface="Inter"/>
              </a:rPr>
              <a:t>Rejected — Art. 54(b) quoted</a:t>
            </a:r>
          </a:p>
        </p:txBody>
      </p:sp>
      <p:sp>
        <p:nvSpPr>
          <p:cNvPr id="9" name="Rounded Rectangle 8"/>
          <p:cNvSpPr/>
          <p:nvPr/>
        </p:nvSpPr>
        <p:spPr>
          <a:xfrm>
            <a:off x="306324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63240" y="2377440"/>
            <a:ext cx="210312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R01</a:t>
            </a:r>
          </a:p>
        </p:txBody>
      </p:sp>
      <p:sp>
        <p:nvSpPr>
          <p:cNvPr id="12" name="TextBox 11"/>
          <p:cNvSpPr txBox="1"/>
          <p:nvPr/>
        </p:nvSpPr>
        <p:spPr>
          <a:xfrm>
            <a:off x="3200400" y="3154680"/>
            <a:ext cx="1828800" cy="1097280"/>
          </a:xfrm>
          <a:prstGeom prst="rect">
            <a:avLst/>
          </a:prstGeom>
          <a:noFill/>
        </p:spPr>
        <p:txBody>
          <a:bodyPr wrap="square" anchor="t" lIns="45720" rIns="45720">
            <a:spAutoFit/>
          </a:bodyPr>
          <a:lstStyle/>
          <a:p>
            <a:pPr algn="ctr"/>
            <a:r>
              <a:rPr sz="1500" b="0">
                <a:solidFill>
                  <a:srgbClr val="1F2A37"/>
                </a:solidFill>
                <a:latin typeface="Inter"/>
              </a:rPr>
              <a:t>Diabetes prevalence by region</a:t>
            </a:r>
          </a:p>
        </p:txBody>
      </p:sp>
      <p:sp>
        <p:nvSpPr>
          <p:cNvPr id="13" name="TextBox 12"/>
          <p:cNvSpPr txBox="1"/>
          <p:nvPr/>
        </p:nvSpPr>
        <p:spPr>
          <a:xfrm>
            <a:off x="3200400" y="4206240"/>
            <a:ext cx="1828800" cy="1005840"/>
          </a:xfrm>
          <a:prstGeom prst="rect">
            <a:avLst/>
          </a:prstGeom>
          <a:noFill/>
        </p:spPr>
        <p:txBody>
          <a:bodyPr wrap="square" anchor="t" lIns="45720" rIns="45720">
            <a:spAutoFit/>
          </a:bodyPr>
          <a:lstStyle/>
          <a:p>
            <a:pPr algn="ctr"/>
            <a:r>
              <a:rPr sz="1500" b="1">
                <a:solidFill>
                  <a:srgbClr val="2E7D32"/>
                </a:solidFill>
                <a:latin typeface="Inter"/>
              </a:rPr>
              <a:t>Statistics, small cells hidden</a:t>
            </a:r>
          </a:p>
        </p:txBody>
      </p:sp>
      <p:sp>
        <p:nvSpPr>
          <p:cNvPr id="14" name="Rounded Rectangle 13"/>
          <p:cNvSpPr/>
          <p:nvPr/>
        </p:nvSpPr>
        <p:spPr>
          <a:xfrm>
            <a:off x="530352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303520" y="2377440"/>
            <a:ext cx="2103120" cy="640080"/>
          </a:xfrm>
          <a:prstGeom prst="roundRect">
            <a:avLst>
              <a:gd name="adj" fmla="val 8000"/>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R11</a:t>
            </a:r>
          </a:p>
        </p:txBody>
      </p:sp>
      <p:sp>
        <p:nvSpPr>
          <p:cNvPr id="17" name="TextBox 16"/>
          <p:cNvSpPr txBox="1"/>
          <p:nvPr/>
        </p:nvSpPr>
        <p:spPr>
          <a:xfrm>
            <a:off x="5440680" y="3154680"/>
            <a:ext cx="1828800" cy="1097280"/>
          </a:xfrm>
          <a:prstGeom prst="rect">
            <a:avLst/>
          </a:prstGeom>
          <a:noFill/>
        </p:spPr>
        <p:txBody>
          <a:bodyPr wrap="square" anchor="t" lIns="45720" rIns="45720">
            <a:spAutoFit/>
          </a:bodyPr>
          <a:lstStyle/>
          <a:p>
            <a:pPr algn="ctr"/>
            <a:r>
              <a:rPr sz="1500" b="0">
                <a:solidFill>
                  <a:srgbClr val="1F2A37"/>
                </a:solidFill>
                <a:latin typeface="Inter"/>
              </a:rPr>
              <a:t>Same, written in German</a:t>
            </a:r>
          </a:p>
        </p:txBody>
      </p:sp>
      <p:sp>
        <p:nvSpPr>
          <p:cNvPr id="18" name="TextBox 17"/>
          <p:cNvSpPr txBox="1"/>
          <p:nvPr/>
        </p:nvSpPr>
        <p:spPr>
          <a:xfrm>
            <a:off x="5440680" y="4206240"/>
            <a:ext cx="1828800" cy="1005840"/>
          </a:xfrm>
          <a:prstGeom prst="rect">
            <a:avLst/>
          </a:prstGeom>
          <a:noFill/>
        </p:spPr>
        <p:txBody>
          <a:bodyPr wrap="square" anchor="t" lIns="45720" rIns="45720">
            <a:spAutoFit/>
          </a:bodyPr>
          <a:lstStyle/>
          <a:p>
            <a:pPr algn="ctr"/>
            <a:r>
              <a:rPr sz="1500" b="1">
                <a:solidFill>
                  <a:srgbClr val="F0B429"/>
                </a:solidFill>
                <a:latin typeface="Inter"/>
              </a:rPr>
              <a:t>Translated once, same rulebook</a:t>
            </a:r>
          </a:p>
        </p:txBody>
      </p:sp>
      <p:sp>
        <p:nvSpPr>
          <p:cNvPr id="19" name="Rounded Rectangle 18"/>
          <p:cNvSpPr/>
          <p:nvPr/>
        </p:nvSpPr>
        <p:spPr>
          <a:xfrm>
            <a:off x="754380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543800" y="2377440"/>
            <a:ext cx="2103120" cy="640080"/>
          </a:xfrm>
          <a:prstGeom prst="roundRect">
            <a:avLst>
              <a:gd name="adj" fmla="val 8000"/>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4380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R12</a:t>
            </a:r>
          </a:p>
        </p:txBody>
      </p:sp>
      <p:sp>
        <p:nvSpPr>
          <p:cNvPr id="22" name="TextBox 21"/>
          <p:cNvSpPr txBox="1"/>
          <p:nvPr/>
        </p:nvSpPr>
        <p:spPr>
          <a:xfrm>
            <a:off x="7680960" y="3154680"/>
            <a:ext cx="1828800" cy="1097280"/>
          </a:xfrm>
          <a:prstGeom prst="rect">
            <a:avLst/>
          </a:prstGeom>
          <a:noFill/>
        </p:spPr>
        <p:txBody>
          <a:bodyPr wrap="square" anchor="t" lIns="45720" rIns="45720">
            <a:spAutoFit/>
          </a:bodyPr>
          <a:lstStyle/>
          <a:p>
            <a:pPr algn="ctr"/>
            <a:r>
              <a:rPr sz="1500" b="0">
                <a:solidFill>
                  <a:srgbClr val="1F2A37"/>
                </a:solidFill>
                <a:latin typeface="Inter"/>
              </a:rPr>
              <a:t>Heart-failure records for a model</a:t>
            </a:r>
          </a:p>
        </p:txBody>
      </p:sp>
      <p:sp>
        <p:nvSpPr>
          <p:cNvPr id="23" name="TextBox 22"/>
          <p:cNvSpPr txBox="1"/>
          <p:nvPr/>
        </p:nvSpPr>
        <p:spPr>
          <a:xfrm>
            <a:off x="7680960" y="4206240"/>
            <a:ext cx="1828800" cy="1005840"/>
          </a:xfrm>
          <a:prstGeom prst="rect">
            <a:avLst/>
          </a:prstGeom>
          <a:noFill/>
        </p:spPr>
        <p:txBody>
          <a:bodyPr wrap="square" anchor="t" lIns="45720" rIns="45720">
            <a:spAutoFit/>
          </a:bodyPr>
          <a:lstStyle/>
          <a:p>
            <a:pPr algn="ctr"/>
            <a:r>
              <a:rPr sz="1500" b="1">
                <a:solidFill>
                  <a:srgbClr val="1565C0"/>
                </a:solidFill>
                <a:latin typeface="Inter"/>
              </a:rPr>
              <a:t>Secure room, download → 403</a:t>
            </a:r>
          </a:p>
        </p:txBody>
      </p:sp>
      <p:sp>
        <p:nvSpPr>
          <p:cNvPr id="24" name="Rounded Rectangle 23"/>
          <p:cNvSpPr/>
          <p:nvPr/>
        </p:nvSpPr>
        <p:spPr>
          <a:xfrm>
            <a:off x="978408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84080" y="2377440"/>
            <a:ext cx="2103120" cy="64008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flood</a:t>
            </a:r>
          </a:p>
        </p:txBody>
      </p:sp>
      <p:sp>
        <p:nvSpPr>
          <p:cNvPr id="27" name="TextBox 26"/>
          <p:cNvSpPr txBox="1"/>
          <p:nvPr/>
        </p:nvSpPr>
        <p:spPr>
          <a:xfrm>
            <a:off x="9921240" y="3154680"/>
            <a:ext cx="1828800" cy="1097280"/>
          </a:xfrm>
          <a:prstGeom prst="rect">
            <a:avLst/>
          </a:prstGeom>
          <a:noFill/>
        </p:spPr>
        <p:txBody>
          <a:bodyPr wrap="square" anchor="t" lIns="45720" rIns="45720">
            <a:spAutoFit/>
          </a:bodyPr>
          <a:lstStyle/>
          <a:p>
            <a:pPr algn="ctr"/>
            <a:r>
              <a:rPr sz="1500" b="0">
                <a:solidFill>
                  <a:srgbClr val="1F2A37"/>
                </a:solidFill>
                <a:latin typeface="Inter"/>
              </a:rPr>
              <a:t>30 requests in 0.15 s</a:t>
            </a:r>
          </a:p>
        </p:txBody>
      </p:sp>
      <p:sp>
        <p:nvSpPr>
          <p:cNvPr id="28" name="TextBox 27"/>
          <p:cNvSpPr txBox="1"/>
          <p:nvPr/>
        </p:nvSpPr>
        <p:spPr>
          <a:xfrm>
            <a:off x="9921240" y="4206240"/>
            <a:ext cx="1828800" cy="1005840"/>
          </a:xfrm>
          <a:prstGeom prst="rect">
            <a:avLst/>
          </a:prstGeom>
          <a:noFill/>
        </p:spPr>
        <p:txBody>
          <a:bodyPr wrap="square" anchor="t" lIns="45720" rIns="45720">
            <a:spAutoFit/>
          </a:bodyPr>
          <a:lstStyle/>
          <a:p>
            <a:pPr algn="ctr"/>
            <a:r>
              <a:rPr sz="1500" b="1">
                <a:solidFill>
                  <a:srgbClr val="C62828"/>
                </a:solidFill>
                <a:latin typeface="Inter"/>
              </a:rPr>
              <a:t>Blocked from #21 — 429</a:t>
            </a:r>
          </a:p>
        </p:txBody>
      </p:sp>
      <p:sp>
        <p:nvSpPr>
          <p:cNvPr id="29" name="TextBox 28"/>
          <p:cNvSpPr txBox="1"/>
          <p:nvPr/>
        </p:nvSpPr>
        <p:spPr>
          <a:xfrm>
            <a:off x="822960" y="5669280"/>
            <a:ext cx="10515600" cy="457200"/>
          </a:xfrm>
          <a:prstGeom prst="rect">
            <a:avLst/>
          </a:prstGeom>
          <a:noFill/>
        </p:spPr>
        <p:txBody>
          <a:bodyPr wrap="square" anchor="t" lIns="45720" rIns="45720">
            <a:spAutoFit/>
          </a:bodyPr>
          <a:lstStyle/>
          <a:p>
            <a:pPr algn="l"/>
            <a:r>
              <a:rPr sz="1600" b="0">
                <a:solidFill>
                  <a:srgbClr val="DBE6F3"/>
                </a:solidFill>
                <a:latin typeface="Inter"/>
              </a:rPr>
              <a:t>Live, on 20,000 synthetic patients. Switch to the screen capture now.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works — and what does not yet</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we say both, as asked</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371600"/>
            <a:ext cx="5394960" cy="4480560"/>
          </a:xfrm>
          <a:prstGeom prst="roundRect">
            <a:avLst>
              <a:gd name="adj" fmla="val 8000"/>
            </a:avLst>
          </a:prstGeom>
          <a:solidFill>
            <a:srgbClr val="F6F7F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08760"/>
            <a:ext cx="5029200" cy="457200"/>
          </a:xfrm>
          <a:prstGeom prst="rect">
            <a:avLst/>
          </a:prstGeom>
          <a:noFill/>
        </p:spPr>
        <p:txBody>
          <a:bodyPr wrap="square" anchor="t" lIns="45720" rIns="45720">
            <a:spAutoFit/>
          </a:bodyPr>
          <a:lstStyle/>
          <a:p>
            <a:pPr algn="l"/>
            <a:r>
              <a:rPr sz="2000" b="1">
                <a:solidFill>
                  <a:srgbClr val="2E7D32"/>
                </a:solidFill>
                <a:latin typeface="Inter"/>
              </a:rPr>
              <a:t>Works</a:t>
            </a:r>
          </a:p>
        </p:txBody>
      </p:sp>
      <p:sp>
        <p:nvSpPr>
          <p:cNvPr id="8" name="TextBox 7"/>
          <p:cNvSpPr txBox="1"/>
          <p:nvPr/>
        </p:nvSpPr>
        <p:spPr>
          <a:xfrm>
            <a:off x="777240" y="2011680"/>
            <a:ext cx="5029200" cy="3657600"/>
          </a:xfrm>
          <a:prstGeom prst="rect">
            <a:avLst/>
          </a:prstGeom>
          <a:noFill/>
        </p:spPr>
        <p:txBody>
          <a:bodyPr wrap="square">
            <a:spAutoFit/>
          </a:bodyPr>
          <a:lstStyle/>
          <a:p>
            <a:pPr>
              <a:spcAft>
                <a:spcPts val="600"/>
              </a:spcAft>
            </a:pPr>
            <a:r>
              <a:rPr sz="1500" b="1">
                <a:solidFill>
                  <a:srgbClr val="1F2A37"/>
                </a:solidFill>
                <a:latin typeface="Inter"/>
              </a:rPr>
              <a:t>•  10 / 10 decisions and articles</a:t>
            </a:r>
            <a:r>
              <a:rPr sz="1500">
                <a:solidFill>
                  <a:srgbClr val="5B6472"/>
                </a:solidFill>
                <a:latin typeface="Inter"/>
              </a:rPr>
              <a:t> on the task requests</a:t>
            </a:r>
          </a:p>
          <a:p>
            <a:pPr>
              <a:spcAft>
                <a:spcPts val="600"/>
              </a:spcAft>
            </a:pPr>
            <a:r>
              <a:rPr sz="1500" b="1">
                <a:solidFill>
                  <a:srgbClr val="1F2A37"/>
                </a:solidFill>
                <a:latin typeface="Inter"/>
              </a:rPr>
              <a:t>•  6 / 6 numbers, 0 privacy leaks</a:t>
            </a:r>
            <a:r>
              <a:rPr sz="1500">
                <a:solidFill>
                  <a:srgbClr val="5B6472"/>
                </a:solidFill>
                <a:latin typeface="Inter"/>
              </a:rPr>
              <a:t> small-cell rule, opt-outs</a:t>
            </a:r>
          </a:p>
          <a:p>
            <a:pPr>
              <a:spcAft>
                <a:spcPts val="600"/>
              </a:spcAft>
            </a:pPr>
            <a:r>
              <a:rPr sz="1500" b="1">
                <a:solidFill>
                  <a:srgbClr val="1F2A37"/>
                </a:solidFill>
                <a:latin typeface="Inter"/>
              </a:rPr>
              <a:t>•  10 / 10 consistent</a:t>
            </a:r>
            <a:r>
              <a:rPr sz="1500">
                <a:solidFill>
                  <a:srgbClr val="5B6472"/>
                </a:solidFill>
                <a:latin typeface="Inter"/>
              </a:rPr>
              <a:t> across 3 runs, slowest answer 5.7 s</a:t>
            </a:r>
          </a:p>
          <a:p>
            <a:pPr>
              <a:spcAft>
                <a:spcPts val="600"/>
              </a:spcAft>
            </a:pPr>
            <a:r>
              <a:rPr sz="1500" b="1">
                <a:solidFill>
                  <a:srgbClr val="1F2A37"/>
                </a:solidFill>
                <a:latin typeface="Inter"/>
              </a:rPr>
              <a:t>•  34 / 36 on unseen requests</a:t>
            </a:r>
            <a:r>
              <a:rPr sz="1500">
                <a:solidFill>
                  <a:srgbClr val="5B6472"/>
                </a:solidFill>
                <a:latin typeface="Inter"/>
              </a:rPr>
              <a:t> incl. 6 in German; every prohibited purpose caught</a:t>
            </a:r>
          </a:p>
          <a:p>
            <a:pPr>
              <a:spcAft>
                <a:spcPts val="600"/>
              </a:spcAft>
            </a:pPr>
            <a:r>
              <a:rPr sz="1500" b="1">
                <a:solidFill>
                  <a:srgbClr val="1F2A37"/>
                </a:solidFill>
                <a:latin typeface="Inter"/>
              </a:rPr>
              <a:t>•  Secure room</a:t>
            </a:r>
            <a:r>
              <a:rPr sz="1500">
                <a:solidFill>
                  <a:srgbClr val="5B6472"/>
                </a:solidFill>
                <a:latin typeface="Inter"/>
              </a:rPr>
              <a:t> only named records, images only, download 403 + audit log</a:t>
            </a:r>
          </a:p>
        </p:txBody>
      </p:sp>
      <p:sp>
        <p:nvSpPr>
          <p:cNvPr id="9" name="Rounded Rectangle 8"/>
          <p:cNvSpPr/>
          <p:nvPr/>
        </p:nvSpPr>
        <p:spPr>
          <a:xfrm>
            <a:off x="6263640" y="1371600"/>
            <a:ext cx="5394960" cy="448056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508760"/>
            <a:ext cx="5029200" cy="457200"/>
          </a:xfrm>
          <a:prstGeom prst="rect">
            <a:avLst/>
          </a:prstGeom>
          <a:noFill/>
        </p:spPr>
        <p:txBody>
          <a:bodyPr wrap="square" anchor="t" lIns="45720" rIns="45720">
            <a:spAutoFit/>
          </a:bodyPr>
          <a:lstStyle/>
          <a:p>
            <a:pPr algn="l"/>
            <a:r>
              <a:rPr sz="2000" b="1">
                <a:solidFill>
                  <a:srgbClr val="C62828"/>
                </a:solidFill>
                <a:latin typeface="Inter"/>
              </a:rPr>
              <a:t>Not yet</a:t>
            </a:r>
          </a:p>
        </p:txBody>
      </p:sp>
      <p:sp>
        <p:nvSpPr>
          <p:cNvPr id="11" name="TextBox 10"/>
          <p:cNvSpPr txBox="1"/>
          <p:nvPr/>
        </p:nvSpPr>
        <p:spPr>
          <a:xfrm>
            <a:off x="6492240" y="2011680"/>
            <a:ext cx="5029200" cy="3657600"/>
          </a:xfrm>
          <a:prstGeom prst="rect">
            <a:avLst/>
          </a:prstGeom>
          <a:noFill/>
        </p:spPr>
        <p:txBody>
          <a:bodyPr wrap="square">
            <a:spAutoFit/>
          </a:bodyPr>
          <a:lstStyle/>
          <a:p>
            <a:pPr>
              <a:spcAft>
                <a:spcPts val="600"/>
              </a:spcAft>
            </a:pPr>
            <a:r>
              <a:rPr sz="1500" b="1">
                <a:solidFill>
                  <a:srgbClr val="1F2A37"/>
                </a:solidFill>
                <a:latin typeface="Inter"/>
              </a:rPr>
              <a:t>•  Sometimes too strict:</a:t>
            </a:r>
            <a:r>
              <a:rPr sz="1500">
                <a:solidFill>
                  <a:srgbClr val="5B6472"/>
                </a:solidFill>
                <a:latin typeface="Inter"/>
              </a:rPr>
              <a:t> a study about insurance premiums was rejected for mentioning them</a:t>
            </a:r>
          </a:p>
          <a:p>
            <a:pPr>
              <a:spcAft>
                <a:spcPts val="600"/>
              </a:spcAft>
            </a:pPr>
            <a:r>
              <a:rPr sz="1500" b="1">
                <a:solidFill>
                  <a:srgbClr val="1F2A37"/>
                </a:solidFill>
                <a:latin typeface="Inter"/>
              </a:rPr>
              <a:t>•  Point within Art. 53 can vary</a:t>
            </a:r>
            <a:r>
              <a:rPr sz="1500">
                <a:solidFill>
                  <a:srgbClr val="5B6472"/>
                </a:solidFill>
                <a:latin typeface="Inter"/>
              </a:rPr>
              <a:t> between runs; decision and articles do not</a:t>
            </a:r>
          </a:p>
          <a:p>
            <a:pPr>
              <a:spcAft>
                <a:spcPts val="600"/>
              </a:spcAft>
            </a:pPr>
            <a:r>
              <a:rPr sz="1500" b="1">
                <a:solidFill>
                  <a:srgbClr val="1F2A37"/>
                </a:solidFill>
                <a:latin typeface="Inter"/>
              </a:rPr>
              <a:t>•  Staff submission list</a:t>
            </a:r>
            <a:r>
              <a:rPr sz="1500">
                <a:solidFill>
                  <a:srgbClr val="5B6472"/>
                </a:solidFill>
                <a:latin typeface="Inter"/>
              </a:rPr>
              <a:t> is a placeholder, lost on restart</a:t>
            </a:r>
          </a:p>
          <a:p>
            <a:pPr>
              <a:spcAft>
                <a:spcPts val="600"/>
              </a:spcAft>
            </a:pPr>
            <a:r>
              <a:rPr sz="1500" b="1">
                <a:solidFill>
                  <a:srgbClr val="1F2A37"/>
                </a:solidFill>
                <a:latin typeface="Inter"/>
              </a:rPr>
              <a:t>•  Screens can be photographed</a:t>
            </a:r>
            <a:r>
              <a:rPr sz="1500">
                <a:solidFill>
                  <a:srgbClr val="5B6472"/>
                </a:solidFill>
                <a:latin typeface="Inter"/>
              </a:rPr>
              <a:t> — true of every SPE</a:t>
            </a:r>
          </a:p>
        </p:txBody>
      </p:sp>
      <p:sp>
        <p:nvSpPr>
          <p:cNvPr id="12" name="TextBox 11"/>
          <p:cNvSpPr txBox="1"/>
          <p:nvPr/>
        </p:nvSpPr>
        <p:spPr>
          <a:xfrm>
            <a:off x="548640" y="5989320"/>
            <a:ext cx="10972800" cy="365760"/>
          </a:xfrm>
          <a:prstGeom prst="rect">
            <a:avLst/>
          </a:prstGeom>
          <a:noFill/>
        </p:spPr>
        <p:txBody>
          <a:bodyPr wrap="square" anchor="t" lIns="45720" rIns="45720">
            <a:spAutoFit/>
          </a:bodyPr>
          <a:lstStyle/>
          <a:p>
            <a:pPr algn="l"/>
            <a:r>
              <a:rPr sz="1400" b="1">
                <a:solidFill>
                  <a:srgbClr val="1F3A5F"/>
                </a:solidFill>
                <a:latin typeface="Inter"/>
              </a:rPr>
              <a:t>github.com/MatthiasEbner2002/Track_3-HalfSecuredTeam</a:t>
            </a:r>
          </a:p>
        </p:txBody>
      </p:sp>
      <p:sp>
        <p:nvSpPr>
          <p:cNvPr id="13" name="TextBox 12"/>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