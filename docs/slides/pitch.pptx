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 everyone. We are HalfSecuredTeam and we built an automated Health Data Access Body for the European Health Data Space: an app that decides health-data requests the way the law requires, and shows exactly why.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Researchers know the medicine and what they want to find out, but not how to query a database. Engineers can write the query but do not know the codes or whether the purpose is allowed. And the access body in between has to check every request against the regulation and protect patients. Today that takes weeks. We sit at the intersection.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ideas. The AI does not decide on its own: it picks the article from the regulation and has to quote it. Definitions become SQL through fixed rules, so no one writes a query per request and the numbers are the same every run. Privacy lives inside the query: small cells and opt-outs cannot leak. And records never leave the secure room: viewed as images, never downloaded.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request in any EU language is translated once. The AI picks the rule from the law text and quotes it. Approved requests are parsed by rules into SQL; statistics go through the small-cell rule, record requests into a secure room with no download. Anyone flooding the service is blocked.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Switch to the screen capture.</a:t>
            </a:r>
          </a:p>
          <a:p>
            <a:r>
              <a:t>R02: the insurer. Rejected, Art. 54(b), quoted.</a:t>
            </a:r>
          </a:p>
          <a:p>
            <a:r>
              <a:t>R01: diabetes by region, the table with the small-cell note.</a:t>
            </a:r>
          </a:p>
          <a:p>
            <a:r>
              <a:t>R11: the same in German.</a:t>
            </a:r>
          </a:p>
          <a:p>
            <a:r>
              <a:t>R12: records for a model; open the secure room; Download: 403.</a:t>
            </a:r>
          </a:p>
          <a:p>
            <a:r>
              <a:t>flood.py: 20 served, then 429.</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works: all ten task decisions, all six numbers, no leaks, consistent across runs, and 34 of 36 requests we had never seen. What does not yet: the law check is sometimes too strict, and the staff list is a placeholder. Everything is in the repository.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0040" cy="6858000"/>
          </a:xfrm>
          <a:prstGeom prst="rect">
            <a:avLst/>
          </a:prstGeom>
          <a:solidFill>
            <a:srgbClr val="1A5F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2103120"/>
            <a:ext cx="10058400" cy="1737360"/>
          </a:xfrm>
          <a:prstGeom prst="rect">
            <a:avLst/>
          </a:prstGeom>
          <a:noFill/>
        </p:spPr>
        <p:txBody>
          <a:bodyPr wrap="square" anchor="t" lIns="0" rIns="0" tIns="0" bIns="0">
            <a:spAutoFit/>
          </a:bodyPr>
          <a:lstStyle/>
          <a:p>
            <a:pPr algn="l">
              <a:lnSpc>
                <a:spcPct val="105000"/>
              </a:lnSpc>
            </a:pPr>
            <a:r>
              <a:rPr sz="4600" b="1">
                <a:solidFill>
                  <a:srgbClr val="141A22"/>
                </a:solidFill>
                <a:latin typeface="Lato"/>
              </a:rPr>
              <a:t>Health data access that explains itself</a:t>
            </a:r>
          </a:p>
        </p:txBody>
      </p:sp>
      <p:sp>
        <p:nvSpPr>
          <p:cNvPr id="4" name="TextBox 3"/>
          <p:cNvSpPr txBox="1"/>
          <p:nvPr/>
        </p:nvSpPr>
        <p:spPr>
          <a:xfrm>
            <a:off x="1097280" y="3977639"/>
            <a:ext cx="9601200" cy="822960"/>
          </a:xfrm>
          <a:prstGeom prst="rect">
            <a:avLst/>
          </a:prstGeom>
          <a:noFill/>
        </p:spPr>
        <p:txBody>
          <a:bodyPr wrap="square" anchor="t" lIns="0" rIns="0" tIns="0" bIns="0">
            <a:spAutoFit/>
          </a:bodyPr>
          <a:lstStyle/>
          <a:p>
            <a:pPr algn="l">
              <a:lnSpc>
                <a:spcPct val="115000"/>
              </a:lnSpc>
            </a:pPr>
            <a:r>
              <a:rPr sz="2200" b="0">
                <a:solidFill>
                  <a:srgbClr val="6B7480"/>
                </a:solidFill>
                <a:latin typeface="Lato"/>
              </a:rPr>
              <a:t>An automated Health Data Access Body for the European Health Data Space</a:t>
            </a:r>
          </a:p>
        </p:txBody>
      </p:sp>
      <p:sp>
        <p:nvSpPr>
          <p:cNvPr id="5" name="TextBox 4"/>
          <p:cNvSpPr txBox="1"/>
          <p:nvPr/>
        </p:nvSpPr>
        <p:spPr>
          <a:xfrm>
            <a:off x="1097280" y="5669280"/>
            <a:ext cx="9144000" cy="365760"/>
          </a:xfrm>
          <a:prstGeom prst="rect">
            <a:avLst/>
          </a:prstGeom>
          <a:noFill/>
        </p:spPr>
        <p:txBody>
          <a:bodyPr wrap="square" anchor="t" lIns="0" rIns="0" tIns="0" bIns="0">
            <a:spAutoFit/>
          </a:bodyPr>
          <a:lstStyle/>
          <a:p>
            <a:pPr algn="l">
              <a:lnSpc>
                <a:spcPct val="115000"/>
              </a:lnSpc>
            </a:pPr>
            <a:r>
              <a:rPr sz="1400" b="0">
                <a:solidFill>
                  <a:srgbClr val="6B7480"/>
                </a:solidFill>
                <a:latin typeface="Lato"/>
              </a:rPr>
              <a:t>HalfSecuredTeam  ·  Track 3  ·  Regulation (EU) 2025/327</a:t>
            </a:r>
          </a:p>
        </p:txBody>
      </p:sp>
      <p:sp>
        <p:nvSpPr>
          <p:cNvPr id="6" name="TextBox 5"/>
          <p:cNvSpPr txBox="1"/>
          <p:nvPr/>
        </p:nvSpPr>
        <p:spPr>
          <a:xfrm>
            <a:off x="822960" y="6355080"/>
            <a:ext cx="7315200" cy="274320"/>
          </a:xfrm>
          <a:prstGeom prst="rect">
            <a:avLst/>
          </a:prstGeom>
          <a:noFill/>
        </p:spPr>
        <p:txBody>
          <a:bodyPr wrap="square" anchor="t" lIns="0" rIns="0" tIns="0" bIns="0">
            <a:spAutoFit/>
          </a:bodyPr>
          <a:lstStyle/>
          <a:p>
            <a:pPr algn="l">
              <a:lnSpc>
                <a:spcPct val="115000"/>
              </a:lnSpc>
            </a:pPr>
            <a:r>
              <a:rPr sz="1100" b="0">
                <a:solidFill>
                  <a:srgbClr val="6B7480"/>
                </a:solidFill>
                <a:latin typeface="Lato"/>
              </a:rPr>
              <a:t>HalfSecuredTeam  ·  EHDS Track 3</a:t>
            </a:r>
          </a:p>
        </p:txBody>
      </p:sp>
      <p:sp>
        <p:nvSpPr>
          <p:cNvPr id="7" name="TextBox 6"/>
          <p:cNvSpPr txBox="1"/>
          <p:nvPr/>
        </p:nvSpPr>
        <p:spPr>
          <a:xfrm>
            <a:off x="10454335" y="6355080"/>
            <a:ext cx="914400" cy="274320"/>
          </a:xfrm>
          <a:prstGeom prst="rect">
            <a:avLst/>
          </a:prstGeom>
          <a:noFill/>
        </p:spPr>
        <p:txBody>
          <a:bodyPr wrap="square" anchor="t" lIns="0" rIns="0" tIns="0" bIns="0">
            <a:spAutoFit/>
          </a:bodyPr>
          <a:lstStyle/>
          <a:p>
            <a:pPr algn="r">
              <a:lnSpc>
                <a:spcPct val="115000"/>
              </a:lnSpc>
            </a:pPr>
            <a:r>
              <a:rPr sz="1100" b="0">
                <a:solidFill>
                  <a:srgbClr val="6B7480"/>
                </a:solidFill>
                <a:latin typeface="Lato"/>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685800"/>
            <a:ext cx="10545775" cy="274320"/>
          </a:xfrm>
          <a:prstGeom prst="rect">
            <a:avLst/>
          </a:prstGeom>
          <a:noFill/>
        </p:spPr>
        <p:txBody>
          <a:bodyPr wrap="square" anchor="t" lIns="0" rIns="0" tIns="0" bIns="0">
            <a:spAutoFit/>
          </a:bodyPr>
          <a:lstStyle/>
          <a:p>
            <a:pPr algn="l">
              <a:lnSpc>
                <a:spcPct val="115000"/>
              </a:lnSpc>
            </a:pPr>
            <a:r>
              <a:rPr sz="1200" b="1">
                <a:solidFill>
                  <a:srgbClr val="1A5FB4"/>
                </a:solidFill>
                <a:latin typeface="Lato"/>
              </a:rPr>
              <a:t>THE PROBLEM</a:t>
            </a:r>
          </a:p>
        </p:txBody>
      </p:sp>
      <p:sp>
        <p:nvSpPr>
          <p:cNvPr id="3" name="TextBox 2"/>
          <p:cNvSpPr txBox="1"/>
          <p:nvPr/>
        </p:nvSpPr>
        <p:spPr>
          <a:xfrm>
            <a:off x="822960" y="1005840"/>
            <a:ext cx="10545775" cy="822960"/>
          </a:xfrm>
          <a:prstGeom prst="rect">
            <a:avLst/>
          </a:prstGeom>
          <a:noFill/>
        </p:spPr>
        <p:txBody>
          <a:bodyPr wrap="square" anchor="t" lIns="0" rIns="0" tIns="0" bIns="0">
            <a:spAutoFit/>
          </a:bodyPr>
          <a:lstStyle/>
          <a:p>
            <a:pPr algn="l">
              <a:lnSpc>
                <a:spcPct val="115000"/>
              </a:lnSpc>
            </a:pPr>
            <a:r>
              <a:rPr sz="3400" b="1">
                <a:solidFill>
                  <a:srgbClr val="141A22"/>
                </a:solidFill>
                <a:latin typeface="Lato"/>
              </a:rPr>
              <a:t>Weeks of waiting, two kinds of people</a:t>
            </a:r>
          </a:p>
        </p:txBody>
      </p:sp>
      <p:sp>
        <p:nvSpPr>
          <p:cNvPr id="4" name="Rectangle 3"/>
          <p:cNvSpPr/>
          <p:nvPr/>
        </p:nvSpPr>
        <p:spPr>
          <a:xfrm>
            <a:off x="822960" y="1874520"/>
            <a:ext cx="640080" cy="45720"/>
          </a:xfrm>
          <a:prstGeom prst="rect">
            <a:avLst/>
          </a:prstGeom>
          <a:solidFill>
            <a:srgbClr val="1A5F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6355080"/>
            <a:ext cx="7315200" cy="274320"/>
          </a:xfrm>
          <a:prstGeom prst="rect">
            <a:avLst/>
          </a:prstGeom>
          <a:noFill/>
        </p:spPr>
        <p:txBody>
          <a:bodyPr wrap="square" anchor="t" lIns="0" rIns="0" tIns="0" bIns="0">
            <a:spAutoFit/>
          </a:bodyPr>
          <a:lstStyle/>
          <a:p>
            <a:pPr algn="l">
              <a:lnSpc>
                <a:spcPct val="115000"/>
              </a:lnSpc>
            </a:pPr>
            <a:r>
              <a:rPr sz="1100" b="0">
                <a:solidFill>
                  <a:srgbClr val="6B7480"/>
                </a:solidFill>
                <a:latin typeface="Lato"/>
              </a:rPr>
              <a:t>HalfSecuredTeam  ·  EHDS Track 3</a:t>
            </a:r>
          </a:p>
        </p:txBody>
      </p:sp>
      <p:sp>
        <p:nvSpPr>
          <p:cNvPr id="6" name="TextBox 5"/>
          <p:cNvSpPr txBox="1"/>
          <p:nvPr/>
        </p:nvSpPr>
        <p:spPr>
          <a:xfrm>
            <a:off x="10454335" y="6355080"/>
            <a:ext cx="914400" cy="274320"/>
          </a:xfrm>
          <a:prstGeom prst="rect">
            <a:avLst/>
          </a:prstGeom>
          <a:noFill/>
        </p:spPr>
        <p:txBody>
          <a:bodyPr wrap="square" anchor="t" lIns="0" rIns="0" tIns="0" bIns="0">
            <a:spAutoFit/>
          </a:bodyPr>
          <a:lstStyle/>
          <a:p>
            <a:pPr algn="r">
              <a:lnSpc>
                <a:spcPct val="115000"/>
              </a:lnSpc>
            </a:pPr>
            <a:r>
              <a:rPr sz="1100" b="0">
                <a:solidFill>
                  <a:srgbClr val="6B7480"/>
                </a:solidFill>
                <a:latin typeface="Lato"/>
              </a:rPr>
              <a:t>2</a:t>
            </a:r>
          </a:p>
        </p:txBody>
      </p:sp>
      <p:sp>
        <p:nvSpPr>
          <p:cNvPr id="7" name="Rectangle 6"/>
          <p:cNvSpPr/>
          <p:nvPr/>
        </p:nvSpPr>
        <p:spPr>
          <a:xfrm>
            <a:off x="822960" y="2834640"/>
            <a:ext cx="457200" cy="54864"/>
          </a:xfrm>
          <a:prstGeom prst="rect">
            <a:avLst/>
          </a:prstGeom>
          <a:solidFill>
            <a:srgbClr val="1A5F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3108960"/>
            <a:ext cx="3210458" cy="1005840"/>
          </a:xfrm>
          <a:prstGeom prst="rect">
            <a:avLst/>
          </a:prstGeom>
          <a:noFill/>
        </p:spPr>
        <p:txBody>
          <a:bodyPr wrap="square" anchor="t" lIns="0" rIns="0" tIns="0" bIns="0">
            <a:spAutoFit/>
          </a:bodyPr>
          <a:lstStyle/>
          <a:p>
            <a:pPr algn="l">
              <a:lnSpc>
                <a:spcPct val="110000"/>
              </a:lnSpc>
            </a:pPr>
            <a:r>
              <a:rPr sz="2400" b="1">
                <a:solidFill>
                  <a:srgbClr val="141A22"/>
                </a:solidFill>
                <a:latin typeface="Lato"/>
              </a:rPr>
              <a:t>Researchers</a:t>
            </a:r>
          </a:p>
        </p:txBody>
      </p:sp>
      <p:sp>
        <p:nvSpPr>
          <p:cNvPr id="9" name="TextBox 8"/>
          <p:cNvSpPr txBox="1"/>
          <p:nvPr/>
        </p:nvSpPr>
        <p:spPr>
          <a:xfrm>
            <a:off x="822960" y="4160520"/>
            <a:ext cx="3210458" cy="2286000"/>
          </a:xfrm>
          <a:prstGeom prst="rect">
            <a:avLst/>
          </a:prstGeom>
          <a:noFill/>
        </p:spPr>
        <p:txBody>
          <a:bodyPr wrap="square" anchor="t" lIns="0" rIns="0" tIns="0" bIns="0">
            <a:spAutoFit/>
          </a:bodyPr>
          <a:lstStyle/>
          <a:p>
            <a:pPr algn="l">
              <a:lnSpc>
                <a:spcPct val="135000"/>
              </a:lnSpc>
            </a:pPr>
            <a:r>
              <a:rPr sz="1800" b="0">
                <a:solidFill>
                  <a:srgbClr val="6B7480"/>
                </a:solidFill>
                <a:latin typeface="Lato"/>
              </a:rPr>
              <a:t>know the medicine and the question — not how to query a database</a:t>
            </a:r>
          </a:p>
        </p:txBody>
      </p:sp>
      <p:sp>
        <p:nvSpPr>
          <p:cNvPr id="10" name="Rectangle 9"/>
          <p:cNvSpPr/>
          <p:nvPr/>
        </p:nvSpPr>
        <p:spPr>
          <a:xfrm>
            <a:off x="4490618" y="2834640"/>
            <a:ext cx="457200" cy="54864"/>
          </a:xfrm>
          <a:prstGeom prst="rect">
            <a:avLst/>
          </a:prstGeom>
          <a:solidFill>
            <a:srgbClr val="1A5F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90618" y="3108960"/>
            <a:ext cx="3210458" cy="1005840"/>
          </a:xfrm>
          <a:prstGeom prst="rect">
            <a:avLst/>
          </a:prstGeom>
          <a:noFill/>
        </p:spPr>
        <p:txBody>
          <a:bodyPr wrap="square" anchor="t" lIns="0" rIns="0" tIns="0" bIns="0">
            <a:spAutoFit/>
          </a:bodyPr>
          <a:lstStyle/>
          <a:p>
            <a:pPr algn="l">
              <a:lnSpc>
                <a:spcPct val="110000"/>
              </a:lnSpc>
            </a:pPr>
            <a:r>
              <a:rPr sz="2400" b="1">
                <a:solidFill>
                  <a:srgbClr val="141A22"/>
                </a:solidFill>
                <a:latin typeface="Lato"/>
              </a:rPr>
              <a:t>Engineers</a:t>
            </a:r>
          </a:p>
        </p:txBody>
      </p:sp>
      <p:sp>
        <p:nvSpPr>
          <p:cNvPr id="12" name="TextBox 11"/>
          <p:cNvSpPr txBox="1"/>
          <p:nvPr/>
        </p:nvSpPr>
        <p:spPr>
          <a:xfrm>
            <a:off x="4490618" y="4160520"/>
            <a:ext cx="3210458" cy="2286000"/>
          </a:xfrm>
          <a:prstGeom prst="rect">
            <a:avLst/>
          </a:prstGeom>
          <a:noFill/>
        </p:spPr>
        <p:txBody>
          <a:bodyPr wrap="square" anchor="t" lIns="0" rIns="0" tIns="0" bIns="0">
            <a:spAutoFit/>
          </a:bodyPr>
          <a:lstStyle/>
          <a:p>
            <a:pPr algn="l">
              <a:lnSpc>
                <a:spcPct val="135000"/>
              </a:lnSpc>
            </a:pPr>
            <a:r>
              <a:rPr sz="1800" b="0">
                <a:solidFill>
                  <a:srgbClr val="6B7480"/>
                </a:solidFill>
                <a:latin typeface="Lato"/>
              </a:rPr>
              <a:t>write the query — but not the medical codes, nor whether the purpose is lawful</a:t>
            </a:r>
          </a:p>
        </p:txBody>
      </p:sp>
      <p:sp>
        <p:nvSpPr>
          <p:cNvPr id="13" name="Rectangle 12"/>
          <p:cNvSpPr/>
          <p:nvPr/>
        </p:nvSpPr>
        <p:spPr>
          <a:xfrm>
            <a:off x="8158276" y="2834640"/>
            <a:ext cx="457200" cy="54864"/>
          </a:xfrm>
          <a:prstGeom prst="rect">
            <a:avLst/>
          </a:prstGeom>
          <a:solidFill>
            <a:srgbClr val="1A5F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58276" y="3108960"/>
            <a:ext cx="3210458" cy="1005840"/>
          </a:xfrm>
          <a:prstGeom prst="rect">
            <a:avLst/>
          </a:prstGeom>
          <a:noFill/>
        </p:spPr>
        <p:txBody>
          <a:bodyPr wrap="square" anchor="t" lIns="0" rIns="0" tIns="0" bIns="0">
            <a:spAutoFit/>
          </a:bodyPr>
          <a:lstStyle/>
          <a:p>
            <a:pPr algn="l">
              <a:lnSpc>
                <a:spcPct val="110000"/>
              </a:lnSpc>
            </a:pPr>
            <a:r>
              <a:rPr sz="2400" b="1">
                <a:solidFill>
                  <a:srgbClr val="141A22"/>
                </a:solidFill>
                <a:latin typeface="Lato"/>
              </a:rPr>
              <a:t>The access body</a:t>
            </a:r>
          </a:p>
        </p:txBody>
      </p:sp>
      <p:sp>
        <p:nvSpPr>
          <p:cNvPr id="15" name="TextBox 14"/>
          <p:cNvSpPr txBox="1"/>
          <p:nvPr/>
        </p:nvSpPr>
        <p:spPr>
          <a:xfrm>
            <a:off x="8158276" y="4160520"/>
            <a:ext cx="3210458" cy="2286000"/>
          </a:xfrm>
          <a:prstGeom prst="rect">
            <a:avLst/>
          </a:prstGeom>
          <a:noFill/>
        </p:spPr>
        <p:txBody>
          <a:bodyPr wrap="square" anchor="t" lIns="0" rIns="0" tIns="0" bIns="0">
            <a:spAutoFit/>
          </a:bodyPr>
          <a:lstStyle/>
          <a:p>
            <a:pPr algn="l">
              <a:lnSpc>
                <a:spcPct val="135000"/>
              </a:lnSpc>
            </a:pPr>
            <a:r>
              <a:rPr sz="1800" b="0">
                <a:solidFill>
                  <a:srgbClr val="6B7480"/>
                </a:solidFill>
                <a:latin typeface="Lato"/>
              </a:rPr>
              <a:t>must check every request against the regulation and protect patients</a:t>
            </a:r>
          </a:p>
        </p:txBody>
      </p:sp>
      <p:sp>
        <p:nvSpPr>
          <p:cNvPr id="16" name="TextBox 15"/>
          <p:cNvSpPr txBox="1"/>
          <p:nvPr/>
        </p:nvSpPr>
        <p:spPr>
          <a:xfrm>
            <a:off x="822960" y="5577840"/>
            <a:ext cx="10545775" cy="457200"/>
          </a:xfrm>
          <a:prstGeom prst="rect">
            <a:avLst/>
          </a:prstGeom>
          <a:noFill/>
        </p:spPr>
        <p:txBody>
          <a:bodyPr wrap="square" anchor="t" lIns="0" rIns="0" tIns="0" bIns="0">
            <a:spAutoFit/>
          </a:bodyPr>
          <a:lstStyle/>
          <a:p>
            <a:pPr algn="l">
              <a:lnSpc>
                <a:spcPct val="115000"/>
              </a:lnSpc>
            </a:pPr>
            <a:r>
              <a:rPr sz="2400" b="1">
                <a:solidFill>
                  <a:srgbClr val="1A5FB4"/>
                </a:solidFill>
                <a:latin typeface="Lato"/>
              </a:rPr>
              <a:t>We sit at the intersection.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685800"/>
            <a:ext cx="10545775" cy="274320"/>
          </a:xfrm>
          <a:prstGeom prst="rect">
            <a:avLst/>
          </a:prstGeom>
          <a:noFill/>
        </p:spPr>
        <p:txBody>
          <a:bodyPr wrap="square" anchor="t" lIns="0" rIns="0" tIns="0" bIns="0">
            <a:spAutoFit/>
          </a:bodyPr>
          <a:lstStyle/>
          <a:p>
            <a:pPr algn="l">
              <a:lnSpc>
                <a:spcPct val="115000"/>
              </a:lnSpc>
            </a:pPr>
            <a:r>
              <a:rPr sz="1200" b="1">
                <a:solidFill>
                  <a:srgbClr val="1A5FB4"/>
                </a:solidFill>
                <a:latin typeface="Lato"/>
              </a:rPr>
              <a:t>OUR APPROACH</a:t>
            </a:r>
          </a:p>
        </p:txBody>
      </p:sp>
      <p:sp>
        <p:nvSpPr>
          <p:cNvPr id="3" name="TextBox 2"/>
          <p:cNvSpPr txBox="1"/>
          <p:nvPr/>
        </p:nvSpPr>
        <p:spPr>
          <a:xfrm>
            <a:off x="822960" y="1005840"/>
            <a:ext cx="10545775" cy="822960"/>
          </a:xfrm>
          <a:prstGeom prst="rect">
            <a:avLst/>
          </a:prstGeom>
          <a:noFill/>
        </p:spPr>
        <p:txBody>
          <a:bodyPr wrap="square" anchor="t" lIns="0" rIns="0" tIns="0" bIns="0">
            <a:spAutoFit/>
          </a:bodyPr>
          <a:lstStyle/>
          <a:p>
            <a:pPr algn="l">
              <a:lnSpc>
                <a:spcPct val="115000"/>
              </a:lnSpc>
            </a:pPr>
            <a:r>
              <a:rPr sz="3400" b="1">
                <a:solidFill>
                  <a:srgbClr val="141A22"/>
                </a:solidFill>
                <a:latin typeface="Lato"/>
              </a:rPr>
              <a:t>Four ideas</a:t>
            </a:r>
          </a:p>
        </p:txBody>
      </p:sp>
      <p:sp>
        <p:nvSpPr>
          <p:cNvPr id="4" name="Rectangle 3"/>
          <p:cNvSpPr/>
          <p:nvPr/>
        </p:nvSpPr>
        <p:spPr>
          <a:xfrm>
            <a:off x="822960" y="1874520"/>
            <a:ext cx="640080" cy="45720"/>
          </a:xfrm>
          <a:prstGeom prst="rect">
            <a:avLst/>
          </a:prstGeom>
          <a:solidFill>
            <a:srgbClr val="1A5F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6355080"/>
            <a:ext cx="7315200" cy="274320"/>
          </a:xfrm>
          <a:prstGeom prst="rect">
            <a:avLst/>
          </a:prstGeom>
          <a:noFill/>
        </p:spPr>
        <p:txBody>
          <a:bodyPr wrap="square" anchor="t" lIns="0" rIns="0" tIns="0" bIns="0">
            <a:spAutoFit/>
          </a:bodyPr>
          <a:lstStyle/>
          <a:p>
            <a:pPr algn="l">
              <a:lnSpc>
                <a:spcPct val="115000"/>
              </a:lnSpc>
            </a:pPr>
            <a:r>
              <a:rPr sz="1100" b="0">
                <a:solidFill>
                  <a:srgbClr val="6B7480"/>
                </a:solidFill>
                <a:latin typeface="Lato"/>
              </a:rPr>
              <a:t>HalfSecuredTeam  ·  EHDS Track 3</a:t>
            </a:r>
          </a:p>
        </p:txBody>
      </p:sp>
      <p:sp>
        <p:nvSpPr>
          <p:cNvPr id="6" name="TextBox 5"/>
          <p:cNvSpPr txBox="1"/>
          <p:nvPr/>
        </p:nvSpPr>
        <p:spPr>
          <a:xfrm>
            <a:off x="10454335" y="6355080"/>
            <a:ext cx="914400" cy="274320"/>
          </a:xfrm>
          <a:prstGeom prst="rect">
            <a:avLst/>
          </a:prstGeom>
          <a:noFill/>
        </p:spPr>
        <p:txBody>
          <a:bodyPr wrap="square" anchor="t" lIns="0" rIns="0" tIns="0" bIns="0">
            <a:spAutoFit/>
          </a:bodyPr>
          <a:lstStyle/>
          <a:p>
            <a:pPr algn="r">
              <a:lnSpc>
                <a:spcPct val="115000"/>
              </a:lnSpc>
            </a:pPr>
            <a:r>
              <a:rPr sz="1100" b="0">
                <a:solidFill>
                  <a:srgbClr val="6B7480"/>
                </a:solidFill>
                <a:latin typeface="Lato"/>
              </a:rPr>
              <a:t>3</a:t>
            </a:r>
          </a:p>
        </p:txBody>
      </p:sp>
      <p:sp>
        <p:nvSpPr>
          <p:cNvPr id="7" name="Rectangle 6"/>
          <p:cNvSpPr/>
          <p:nvPr/>
        </p:nvSpPr>
        <p:spPr>
          <a:xfrm>
            <a:off x="822960" y="2834640"/>
            <a:ext cx="457200" cy="54864"/>
          </a:xfrm>
          <a:prstGeom prst="rect">
            <a:avLst/>
          </a:prstGeom>
          <a:solidFill>
            <a:srgbClr val="1A5F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3108960"/>
            <a:ext cx="2293543" cy="1005840"/>
          </a:xfrm>
          <a:prstGeom prst="rect">
            <a:avLst/>
          </a:prstGeom>
          <a:noFill/>
        </p:spPr>
        <p:txBody>
          <a:bodyPr wrap="square" anchor="t" lIns="0" rIns="0" tIns="0" bIns="0">
            <a:spAutoFit/>
          </a:bodyPr>
          <a:lstStyle/>
          <a:p>
            <a:pPr algn="l">
              <a:lnSpc>
                <a:spcPct val="110000"/>
              </a:lnSpc>
            </a:pPr>
            <a:r>
              <a:rPr sz="2400" b="1">
                <a:solidFill>
                  <a:srgbClr val="141A22"/>
                </a:solidFill>
                <a:latin typeface="Lato"/>
              </a:rPr>
              <a:t>Law-grounded AI</a:t>
            </a:r>
          </a:p>
        </p:txBody>
      </p:sp>
      <p:sp>
        <p:nvSpPr>
          <p:cNvPr id="9" name="TextBox 8"/>
          <p:cNvSpPr txBox="1"/>
          <p:nvPr/>
        </p:nvSpPr>
        <p:spPr>
          <a:xfrm>
            <a:off x="822960" y="4160520"/>
            <a:ext cx="2293543" cy="2286000"/>
          </a:xfrm>
          <a:prstGeom prst="rect">
            <a:avLst/>
          </a:prstGeom>
          <a:noFill/>
        </p:spPr>
        <p:txBody>
          <a:bodyPr wrap="square" anchor="t" lIns="0" rIns="0" tIns="0" bIns="0">
            <a:spAutoFit/>
          </a:bodyPr>
          <a:lstStyle/>
          <a:p>
            <a:pPr algn="l">
              <a:lnSpc>
                <a:spcPct val="135000"/>
              </a:lnSpc>
            </a:pPr>
            <a:r>
              <a:rPr sz="1800" b="0">
                <a:solidFill>
                  <a:srgbClr val="6B7480"/>
                </a:solidFill>
                <a:latin typeface="Lato"/>
              </a:rPr>
              <a:t>picks the article and quotes it</a:t>
            </a:r>
          </a:p>
        </p:txBody>
      </p:sp>
      <p:sp>
        <p:nvSpPr>
          <p:cNvPr id="10" name="Rectangle 9"/>
          <p:cNvSpPr/>
          <p:nvPr/>
        </p:nvSpPr>
        <p:spPr>
          <a:xfrm>
            <a:off x="3573703" y="2834640"/>
            <a:ext cx="457200" cy="54864"/>
          </a:xfrm>
          <a:prstGeom prst="rect">
            <a:avLst/>
          </a:prstGeom>
          <a:solidFill>
            <a:srgbClr val="1A5F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73703" y="3108960"/>
            <a:ext cx="2293543" cy="1005840"/>
          </a:xfrm>
          <a:prstGeom prst="rect">
            <a:avLst/>
          </a:prstGeom>
          <a:noFill/>
        </p:spPr>
        <p:txBody>
          <a:bodyPr wrap="square" anchor="t" lIns="0" rIns="0" tIns="0" bIns="0">
            <a:spAutoFit/>
          </a:bodyPr>
          <a:lstStyle/>
          <a:p>
            <a:pPr algn="l">
              <a:lnSpc>
                <a:spcPct val="110000"/>
              </a:lnSpc>
            </a:pPr>
            <a:r>
              <a:rPr sz="2400" b="1">
                <a:solidFill>
                  <a:srgbClr val="141A22"/>
                </a:solidFill>
                <a:latin typeface="Lato"/>
              </a:rPr>
              <a:t>Words → SQL by rules</a:t>
            </a:r>
          </a:p>
        </p:txBody>
      </p:sp>
      <p:sp>
        <p:nvSpPr>
          <p:cNvPr id="12" name="TextBox 11"/>
          <p:cNvSpPr txBox="1"/>
          <p:nvPr/>
        </p:nvSpPr>
        <p:spPr>
          <a:xfrm>
            <a:off x="3573703" y="4160520"/>
            <a:ext cx="2293543" cy="2286000"/>
          </a:xfrm>
          <a:prstGeom prst="rect">
            <a:avLst/>
          </a:prstGeom>
          <a:noFill/>
        </p:spPr>
        <p:txBody>
          <a:bodyPr wrap="square" anchor="t" lIns="0" rIns="0" tIns="0" bIns="0">
            <a:spAutoFit/>
          </a:bodyPr>
          <a:lstStyle/>
          <a:p>
            <a:pPr algn="l">
              <a:lnSpc>
                <a:spcPct val="135000"/>
              </a:lnSpc>
            </a:pPr>
            <a:r>
              <a:rPr sz="1800" b="0">
                <a:solidFill>
                  <a:srgbClr val="6B7480"/>
                </a:solidFill>
                <a:latin typeface="Lato"/>
              </a:rPr>
              <a:t>no query written per request</a:t>
            </a:r>
          </a:p>
        </p:txBody>
      </p:sp>
      <p:sp>
        <p:nvSpPr>
          <p:cNvPr id="13" name="Rectangle 12"/>
          <p:cNvSpPr/>
          <p:nvPr/>
        </p:nvSpPr>
        <p:spPr>
          <a:xfrm>
            <a:off x="6324447" y="2834640"/>
            <a:ext cx="457200" cy="54864"/>
          </a:xfrm>
          <a:prstGeom prst="rect">
            <a:avLst/>
          </a:prstGeom>
          <a:solidFill>
            <a:srgbClr val="1A5F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24447" y="3108960"/>
            <a:ext cx="2293543" cy="1005840"/>
          </a:xfrm>
          <a:prstGeom prst="rect">
            <a:avLst/>
          </a:prstGeom>
          <a:noFill/>
        </p:spPr>
        <p:txBody>
          <a:bodyPr wrap="square" anchor="t" lIns="0" rIns="0" tIns="0" bIns="0">
            <a:spAutoFit/>
          </a:bodyPr>
          <a:lstStyle/>
          <a:p>
            <a:pPr algn="l">
              <a:lnSpc>
                <a:spcPct val="110000"/>
              </a:lnSpc>
            </a:pPr>
            <a:r>
              <a:rPr sz="2400" b="1">
                <a:solidFill>
                  <a:srgbClr val="141A22"/>
                </a:solidFill>
                <a:latin typeface="Lato"/>
              </a:rPr>
              <a:t>Privacy inside the query</a:t>
            </a:r>
          </a:p>
        </p:txBody>
      </p:sp>
      <p:sp>
        <p:nvSpPr>
          <p:cNvPr id="15" name="TextBox 14"/>
          <p:cNvSpPr txBox="1"/>
          <p:nvPr/>
        </p:nvSpPr>
        <p:spPr>
          <a:xfrm>
            <a:off x="6324447" y="4160520"/>
            <a:ext cx="2293543" cy="2286000"/>
          </a:xfrm>
          <a:prstGeom prst="rect">
            <a:avLst/>
          </a:prstGeom>
          <a:noFill/>
        </p:spPr>
        <p:txBody>
          <a:bodyPr wrap="square" anchor="t" lIns="0" rIns="0" tIns="0" bIns="0">
            <a:spAutoFit/>
          </a:bodyPr>
          <a:lstStyle/>
          <a:p>
            <a:pPr algn="l">
              <a:lnSpc>
                <a:spcPct val="135000"/>
              </a:lnSpc>
            </a:pPr>
            <a:r>
              <a:rPr sz="1800" b="0">
                <a:solidFill>
                  <a:srgbClr val="6B7480"/>
                </a:solidFill>
                <a:latin typeface="Lato"/>
              </a:rPr>
              <a:t>small cells and opt-outs cannot leak</a:t>
            </a:r>
          </a:p>
        </p:txBody>
      </p:sp>
      <p:sp>
        <p:nvSpPr>
          <p:cNvPr id="16" name="Rectangle 15"/>
          <p:cNvSpPr/>
          <p:nvPr/>
        </p:nvSpPr>
        <p:spPr>
          <a:xfrm>
            <a:off x="9075191" y="2834640"/>
            <a:ext cx="457200" cy="54864"/>
          </a:xfrm>
          <a:prstGeom prst="rect">
            <a:avLst/>
          </a:prstGeom>
          <a:solidFill>
            <a:srgbClr val="1A5F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75191" y="3108960"/>
            <a:ext cx="2293543" cy="1005840"/>
          </a:xfrm>
          <a:prstGeom prst="rect">
            <a:avLst/>
          </a:prstGeom>
          <a:noFill/>
        </p:spPr>
        <p:txBody>
          <a:bodyPr wrap="square" anchor="t" lIns="0" rIns="0" tIns="0" bIns="0">
            <a:spAutoFit/>
          </a:bodyPr>
          <a:lstStyle/>
          <a:p>
            <a:pPr algn="l">
              <a:lnSpc>
                <a:spcPct val="110000"/>
              </a:lnSpc>
            </a:pPr>
            <a:r>
              <a:rPr sz="2400" b="1">
                <a:solidFill>
                  <a:srgbClr val="141A22"/>
                </a:solidFill>
                <a:latin typeface="Lato"/>
              </a:rPr>
              <a:t>Secure room, no exit</a:t>
            </a:r>
          </a:p>
        </p:txBody>
      </p:sp>
      <p:sp>
        <p:nvSpPr>
          <p:cNvPr id="18" name="TextBox 17"/>
          <p:cNvSpPr txBox="1"/>
          <p:nvPr/>
        </p:nvSpPr>
        <p:spPr>
          <a:xfrm>
            <a:off x="9075191" y="4160520"/>
            <a:ext cx="2293543" cy="2286000"/>
          </a:xfrm>
          <a:prstGeom prst="rect">
            <a:avLst/>
          </a:prstGeom>
          <a:noFill/>
        </p:spPr>
        <p:txBody>
          <a:bodyPr wrap="square" anchor="t" lIns="0" rIns="0" tIns="0" bIns="0">
            <a:spAutoFit/>
          </a:bodyPr>
          <a:lstStyle/>
          <a:p>
            <a:pPr algn="l">
              <a:lnSpc>
                <a:spcPct val="135000"/>
              </a:lnSpc>
            </a:pPr>
            <a:r>
              <a:rPr sz="1800" b="0">
                <a:solidFill>
                  <a:srgbClr val="6B7480"/>
                </a:solidFill>
                <a:latin typeface="Lato"/>
              </a:rPr>
              <a:t>records viewed as images, never downloaded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685800"/>
            <a:ext cx="10545775" cy="274320"/>
          </a:xfrm>
          <a:prstGeom prst="rect">
            <a:avLst/>
          </a:prstGeom>
          <a:noFill/>
        </p:spPr>
        <p:txBody>
          <a:bodyPr wrap="square" anchor="t" lIns="0" rIns="0" tIns="0" bIns="0">
            <a:spAutoFit/>
          </a:bodyPr>
          <a:lstStyle/>
          <a:p>
            <a:pPr algn="l">
              <a:lnSpc>
                <a:spcPct val="115000"/>
              </a:lnSpc>
            </a:pPr>
            <a:r>
              <a:rPr sz="1200" b="1">
                <a:solidFill>
                  <a:srgbClr val="1A5FB4"/>
                </a:solidFill>
                <a:latin typeface="Lato"/>
              </a:rPr>
              <a:t>HOW IT WORKS</a:t>
            </a:r>
          </a:p>
        </p:txBody>
      </p:sp>
      <p:sp>
        <p:nvSpPr>
          <p:cNvPr id="3" name="TextBox 2"/>
          <p:cNvSpPr txBox="1"/>
          <p:nvPr/>
        </p:nvSpPr>
        <p:spPr>
          <a:xfrm>
            <a:off x="822960" y="1005840"/>
            <a:ext cx="10545775" cy="822960"/>
          </a:xfrm>
          <a:prstGeom prst="rect">
            <a:avLst/>
          </a:prstGeom>
          <a:noFill/>
        </p:spPr>
        <p:txBody>
          <a:bodyPr wrap="square" anchor="t" lIns="0" rIns="0" tIns="0" bIns="0">
            <a:spAutoFit/>
          </a:bodyPr>
          <a:lstStyle/>
          <a:p>
            <a:pPr algn="l">
              <a:lnSpc>
                <a:spcPct val="115000"/>
              </a:lnSpc>
            </a:pPr>
            <a:r>
              <a:rPr sz="3400" b="1">
                <a:solidFill>
                  <a:srgbClr val="141A22"/>
                </a:solidFill>
                <a:latin typeface="Lato"/>
              </a:rPr>
              <a:t>One pipeline, three outcomes</a:t>
            </a:r>
          </a:p>
        </p:txBody>
      </p:sp>
      <p:sp>
        <p:nvSpPr>
          <p:cNvPr id="4" name="Rectangle 3"/>
          <p:cNvSpPr/>
          <p:nvPr/>
        </p:nvSpPr>
        <p:spPr>
          <a:xfrm>
            <a:off x="822960" y="1874520"/>
            <a:ext cx="640080" cy="45720"/>
          </a:xfrm>
          <a:prstGeom prst="rect">
            <a:avLst/>
          </a:prstGeom>
          <a:solidFill>
            <a:srgbClr val="1A5F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6355080"/>
            <a:ext cx="7315200" cy="274320"/>
          </a:xfrm>
          <a:prstGeom prst="rect">
            <a:avLst/>
          </a:prstGeom>
          <a:noFill/>
        </p:spPr>
        <p:txBody>
          <a:bodyPr wrap="square" anchor="t" lIns="0" rIns="0" tIns="0" bIns="0">
            <a:spAutoFit/>
          </a:bodyPr>
          <a:lstStyle/>
          <a:p>
            <a:pPr algn="l">
              <a:lnSpc>
                <a:spcPct val="115000"/>
              </a:lnSpc>
            </a:pPr>
            <a:r>
              <a:rPr sz="1100" b="0">
                <a:solidFill>
                  <a:srgbClr val="6B7480"/>
                </a:solidFill>
                <a:latin typeface="Lato"/>
              </a:rPr>
              <a:t>HalfSecuredTeam  ·  EHDS Track 3</a:t>
            </a:r>
          </a:p>
        </p:txBody>
      </p:sp>
      <p:sp>
        <p:nvSpPr>
          <p:cNvPr id="6" name="TextBox 5"/>
          <p:cNvSpPr txBox="1"/>
          <p:nvPr/>
        </p:nvSpPr>
        <p:spPr>
          <a:xfrm>
            <a:off x="10454335" y="6355080"/>
            <a:ext cx="914400" cy="274320"/>
          </a:xfrm>
          <a:prstGeom prst="rect">
            <a:avLst/>
          </a:prstGeom>
          <a:noFill/>
        </p:spPr>
        <p:txBody>
          <a:bodyPr wrap="square" anchor="t" lIns="0" rIns="0" tIns="0" bIns="0">
            <a:spAutoFit/>
          </a:bodyPr>
          <a:lstStyle/>
          <a:p>
            <a:pPr algn="r">
              <a:lnSpc>
                <a:spcPct val="115000"/>
              </a:lnSpc>
            </a:pPr>
            <a:r>
              <a:rPr sz="1100" b="0">
                <a:solidFill>
                  <a:srgbClr val="6B7480"/>
                </a:solidFill>
                <a:latin typeface="Lato"/>
              </a:rPr>
              <a:t>4</a:t>
            </a:r>
          </a:p>
        </p:txBody>
      </p:sp>
      <p:pic>
        <p:nvPicPr>
          <p:cNvPr id="7" name="Picture 6" descr="how-it-works.png"/>
          <p:cNvPicPr>
            <a:picLocks noChangeAspect="1"/>
          </p:cNvPicPr>
          <p:nvPr/>
        </p:nvPicPr>
        <p:blipFill>
          <a:blip r:embed="rId2"/>
          <a:stretch>
            <a:fillRect/>
          </a:stretch>
        </p:blipFill>
        <p:spPr>
          <a:xfrm>
            <a:off x="1759822" y="2286000"/>
            <a:ext cx="8672051" cy="384048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5F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3657600" cy="1097280"/>
          </a:xfrm>
          <a:prstGeom prst="rect">
            <a:avLst/>
          </a:prstGeom>
          <a:noFill/>
        </p:spPr>
        <p:txBody>
          <a:bodyPr wrap="square" anchor="t" lIns="0" rIns="0" tIns="0" bIns="0">
            <a:spAutoFit/>
          </a:bodyPr>
          <a:lstStyle/>
          <a:p>
            <a:pPr algn="l">
              <a:lnSpc>
                <a:spcPct val="115000"/>
              </a:lnSpc>
            </a:pPr>
            <a:r>
              <a:rPr sz="7200" b="1">
                <a:solidFill>
                  <a:srgbClr val="BFD4EE"/>
                </a:solidFill>
                <a:latin typeface="Lato"/>
              </a:rPr>
              <a:t>Demo</a:t>
            </a:r>
          </a:p>
        </p:txBody>
      </p:sp>
      <p:sp>
        <p:nvSpPr>
          <p:cNvPr id="4" name="TextBox 3"/>
          <p:cNvSpPr txBox="1"/>
          <p:nvPr/>
        </p:nvSpPr>
        <p:spPr>
          <a:xfrm>
            <a:off x="822960" y="3108960"/>
            <a:ext cx="10058400" cy="1097280"/>
          </a:xfrm>
          <a:prstGeom prst="rect">
            <a:avLst/>
          </a:prstGeom>
          <a:noFill/>
        </p:spPr>
        <p:txBody>
          <a:bodyPr wrap="square" anchor="t" lIns="0" rIns="0" tIns="0" bIns="0">
            <a:spAutoFit/>
          </a:bodyPr>
          <a:lstStyle/>
          <a:p>
            <a:pPr algn="l">
              <a:lnSpc>
                <a:spcPct val="115000"/>
              </a:lnSpc>
            </a:pPr>
            <a:r>
              <a:rPr sz="4400" b="1">
                <a:solidFill>
                  <a:srgbClr val="FFFFFF"/>
                </a:solidFill>
                <a:latin typeface="Lato"/>
              </a:rPr>
              <a:t>Four requests and one attack</a:t>
            </a:r>
          </a:p>
        </p:txBody>
      </p:sp>
      <p:sp>
        <p:nvSpPr>
          <p:cNvPr id="5" name="TextBox 4"/>
          <p:cNvSpPr txBox="1"/>
          <p:nvPr/>
        </p:nvSpPr>
        <p:spPr>
          <a:xfrm>
            <a:off x="822960" y="4206240"/>
            <a:ext cx="10058400" cy="731520"/>
          </a:xfrm>
          <a:prstGeom prst="rect">
            <a:avLst/>
          </a:prstGeom>
          <a:noFill/>
        </p:spPr>
        <p:txBody>
          <a:bodyPr wrap="square" anchor="t" lIns="0" rIns="0" tIns="0" bIns="0">
            <a:spAutoFit/>
          </a:bodyPr>
          <a:lstStyle/>
          <a:p>
            <a:pPr algn="l">
              <a:lnSpc>
                <a:spcPct val="115000"/>
              </a:lnSpc>
            </a:pPr>
            <a:r>
              <a:rPr sz="2000" b="0">
                <a:solidFill>
                  <a:srgbClr val="DCE7F5"/>
                </a:solidFill>
                <a:latin typeface="Lato"/>
              </a:rPr>
              <a:t>R02 rejected  ·  R01 statistics  ·  R11 in German  ·  R12 secure room  ·  flood blocked</a:t>
            </a:r>
          </a:p>
        </p:txBody>
      </p:sp>
      <p:sp>
        <p:nvSpPr>
          <p:cNvPr id="6" name="TextBox 5"/>
          <p:cNvSpPr txBox="1"/>
          <p:nvPr/>
        </p:nvSpPr>
        <p:spPr>
          <a:xfrm>
            <a:off x="822960" y="6355080"/>
            <a:ext cx="7315200" cy="274320"/>
          </a:xfrm>
          <a:prstGeom prst="rect">
            <a:avLst/>
          </a:prstGeom>
          <a:noFill/>
        </p:spPr>
        <p:txBody>
          <a:bodyPr wrap="square" anchor="t" lIns="0" rIns="0" tIns="0" bIns="0">
            <a:spAutoFit/>
          </a:bodyPr>
          <a:lstStyle/>
          <a:p>
            <a:pPr algn="l">
              <a:lnSpc>
                <a:spcPct val="115000"/>
              </a:lnSpc>
            </a:pPr>
            <a:r>
              <a:rPr sz="1100" b="0">
                <a:solidFill>
                  <a:srgbClr val="B8C4D6"/>
                </a:solidFill>
                <a:latin typeface="Lato"/>
              </a:rPr>
              <a:t>HalfSecuredTeam  ·  EHDS Track 3</a:t>
            </a:r>
          </a:p>
        </p:txBody>
      </p:sp>
      <p:sp>
        <p:nvSpPr>
          <p:cNvPr id="7" name="TextBox 6"/>
          <p:cNvSpPr txBox="1"/>
          <p:nvPr/>
        </p:nvSpPr>
        <p:spPr>
          <a:xfrm>
            <a:off x="10454335" y="6355080"/>
            <a:ext cx="914400" cy="274320"/>
          </a:xfrm>
          <a:prstGeom prst="rect">
            <a:avLst/>
          </a:prstGeom>
          <a:noFill/>
        </p:spPr>
        <p:txBody>
          <a:bodyPr wrap="square" anchor="t" lIns="0" rIns="0" tIns="0" bIns="0">
            <a:spAutoFit/>
          </a:bodyPr>
          <a:lstStyle/>
          <a:p>
            <a:pPr algn="r">
              <a:lnSpc>
                <a:spcPct val="115000"/>
              </a:lnSpc>
            </a:pPr>
            <a:r>
              <a:rPr sz="1100" b="0">
                <a:solidFill>
                  <a:srgbClr val="B8C4D6"/>
                </a:solidFill>
                <a:latin typeface="Lato"/>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685800"/>
            <a:ext cx="10545775" cy="274320"/>
          </a:xfrm>
          <a:prstGeom prst="rect">
            <a:avLst/>
          </a:prstGeom>
          <a:noFill/>
        </p:spPr>
        <p:txBody>
          <a:bodyPr wrap="square" anchor="t" lIns="0" rIns="0" tIns="0" bIns="0">
            <a:spAutoFit/>
          </a:bodyPr>
          <a:lstStyle/>
          <a:p>
            <a:pPr algn="l">
              <a:lnSpc>
                <a:spcPct val="115000"/>
              </a:lnSpc>
            </a:pPr>
            <a:r>
              <a:rPr sz="1200" b="1">
                <a:solidFill>
                  <a:srgbClr val="1A5FB4"/>
                </a:solidFill>
                <a:latin typeface="Lato"/>
              </a:rPr>
              <a:t>HONEST SUMMARY</a:t>
            </a:r>
          </a:p>
        </p:txBody>
      </p:sp>
      <p:sp>
        <p:nvSpPr>
          <p:cNvPr id="3" name="TextBox 2"/>
          <p:cNvSpPr txBox="1"/>
          <p:nvPr/>
        </p:nvSpPr>
        <p:spPr>
          <a:xfrm>
            <a:off x="822960" y="1005840"/>
            <a:ext cx="10545775" cy="822960"/>
          </a:xfrm>
          <a:prstGeom prst="rect">
            <a:avLst/>
          </a:prstGeom>
          <a:noFill/>
        </p:spPr>
        <p:txBody>
          <a:bodyPr wrap="square" anchor="t" lIns="0" rIns="0" tIns="0" bIns="0">
            <a:spAutoFit/>
          </a:bodyPr>
          <a:lstStyle/>
          <a:p>
            <a:pPr algn="l">
              <a:lnSpc>
                <a:spcPct val="115000"/>
              </a:lnSpc>
            </a:pPr>
            <a:r>
              <a:rPr sz="3400" b="1">
                <a:solidFill>
                  <a:srgbClr val="141A22"/>
                </a:solidFill>
                <a:latin typeface="Lato"/>
              </a:rPr>
              <a:t>What works — and what does not yet</a:t>
            </a:r>
          </a:p>
        </p:txBody>
      </p:sp>
      <p:sp>
        <p:nvSpPr>
          <p:cNvPr id="4" name="Rectangle 3"/>
          <p:cNvSpPr/>
          <p:nvPr/>
        </p:nvSpPr>
        <p:spPr>
          <a:xfrm>
            <a:off x="822960" y="1874520"/>
            <a:ext cx="640080" cy="45720"/>
          </a:xfrm>
          <a:prstGeom prst="rect">
            <a:avLst/>
          </a:prstGeom>
          <a:solidFill>
            <a:srgbClr val="1A5F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6355080"/>
            <a:ext cx="7315200" cy="274320"/>
          </a:xfrm>
          <a:prstGeom prst="rect">
            <a:avLst/>
          </a:prstGeom>
          <a:noFill/>
        </p:spPr>
        <p:txBody>
          <a:bodyPr wrap="square" anchor="t" lIns="0" rIns="0" tIns="0" bIns="0">
            <a:spAutoFit/>
          </a:bodyPr>
          <a:lstStyle/>
          <a:p>
            <a:pPr algn="l">
              <a:lnSpc>
                <a:spcPct val="115000"/>
              </a:lnSpc>
            </a:pPr>
            <a:r>
              <a:rPr sz="1100" b="0">
                <a:solidFill>
                  <a:srgbClr val="6B7480"/>
                </a:solidFill>
                <a:latin typeface="Lato"/>
              </a:rPr>
              <a:t>HalfSecuredTeam  ·  EHDS Track 3</a:t>
            </a:r>
          </a:p>
        </p:txBody>
      </p:sp>
      <p:sp>
        <p:nvSpPr>
          <p:cNvPr id="6" name="TextBox 5"/>
          <p:cNvSpPr txBox="1"/>
          <p:nvPr/>
        </p:nvSpPr>
        <p:spPr>
          <a:xfrm>
            <a:off x="10454335" y="6355080"/>
            <a:ext cx="914400" cy="274320"/>
          </a:xfrm>
          <a:prstGeom prst="rect">
            <a:avLst/>
          </a:prstGeom>
          <a:noFill/>
        </p:spPr>
        <p:txBody>
          <a:bodyPr wrap="square" anchor="t" lIns="0" rIns="0" tIns="0" bIns="0">
            <a:spAutoFit/>
          </a:bodyPr>
          <a:lstStyle/>
          <a:p>
            <a:pPr algn="r">
              <a:lnSpc>
                <a:spcPct val="115000"/>
              </a:lnSpc>
            </a:pPr>
            <a:r>
              <a:rPr sz="1100" b="0">
                <a:solidFill>
                  <a:srgbClr val="6B7480"/>
                </a:solidFill>
                <a:latin typeface="Lato"/>
              </a:rPr>
              <a:t>6</a:t>
            </a:r>
          </a:p>
        </p:txBody>
      </p:sp>
      <p:sp>
        <p:nvSpPr>
          <p:cNvPr id="7" name="Rectangle 6"/>
          <p:cNvSpPr/>
          <p:nvPr/>
        </p:nvSpPr>
        <p:spPr>
          <a:xfrm>
            <a:off x="822960" y="2286000"/>
            <a:ext cx="457200" cy="4572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514600"/>
            <a:ext cx="4998567" cy="548640"/>
          </a:xfrm>
          <a:prstGeom prst="rect">
            <a:avLst/>
          </a:prstGeom>
          <a:noFill/>
        </p:spPr>
        <p:txBody>
          <a:bodyPr wrap="square" anchor="t" lIns="0" rIns="0" tIns="0" bIns="0">
            <a:spAutoFit/>
          </a:bodyPr>
          <a:lstStyle/>
          <a:p>
            <a:pPr algn="l">
              <a:lnSpc>
                <a:spcPct val="115000"/>
              </a:lnSpc>
            </a:pPr>
            <a:r>
              <a:rPr sz="2200" b="1">
                <a:solidFill>
                  <a:srgbClr val="2E7D32"/>
                </a:solidFill>
                <a:latin typeface="Lato"/>
              </a:rPr>
              <a:t>Works</a:t>
            </a:r>
          </a:p>
        </p:txBody>
      </p:sp>
      <p:sp>
        <p:nvSpPr>
          <p:cNvPr id="9" name="TextBox 8"/>
          <p:cNvSpPr txBox="1"/>
          <p:nvPr/>
        </p:nvSpPr>
        <p:spPr>
          <a:xfrm>
            <a:off x="822960" y="3154680"/>
            <a:ext cx="4998567" cy="3200400"/>
          </a:xfrm>
          <a:prstGeom prst="rect">
            <a:avLst/>
          </a:prstGeom>
          <a:noFill/>
        </p:spPr>
        <p:txBody>
          <a:bodyPr wrap="square" anchor="t" lIns="0" rIns="0" tIns="0" bIns="0">
            <a:spAutoFit/>
          </a:bodyPr>
          <a:lstStyle/>
          <a:p>
            <a:pPr algn="l">
              <a:lnSpc>
                <a:spcPct val="150000"/>
              </a:lnSpc>
            </a:pPr>
            <a:r>
              <a:rPr sz="1600" b="0">
                <a:solidFill>
                  <a:srgbClr val="141A22"/>
                </a:solidFill>
                <a:latin typeface="Lato"/>
              </a:rPr>
              <a:t>—  10 / 10 decisions and articles</a:t>
            </a:r>
          </a:p>
          <a:p>
            <a:pPr algn="l">
              <a:lnSpc>
                <a:spcPct val="150000"/>
              </a:lnSpc>
            </a:pPr>
            <a:r>
              <a:rPr sz="1600" b="0">
                <a:solidFill>
                  <a:srgbClr val="141A22"/>
                </a:solidFill>
                <a:latin typeface="Lato"/>
              </a:rPr>
              <a:t>—  6 / 6 numbers, 0 privacy leaks</a:t>
            </a:r>
          </a:p>
          <a:p>
            <a:pPr algn="l">
              <a:lnSpc>
                <a:spcPct val="150000"/>
              </a:lnSpc>
            </a:pPr>
            <a:r>
              <a:rPr sz="1600" b="0">
                <a:solidFill>
                  <a:srgbClr val="141A22"/>
                </a:solidFill>
                <a:latin typeface="Lato"/>
              </a:rPr>
              <a:t>—  10 / 10 consistent across 3 runs, 5.7 s</a:t>
            </a:r>
          </a:p>
          <a:p>
            <a:pPr algn="l">
              <a:lnSpc>
                <a:spcPct val="150000"/>
              </a:lnSpc>
            </a:pPr>
            <a:r>
              <a:rPr sz="1600" b="0">
                <a:solidFill>
                  <a:srgbClr val="141A22"/>
                </a:solidFill>
                <a:latin typeface="Lato"/>
              </a:rPr>
              <a:t>—  34 / 36 unseen requests, incl. German</a:t>
            </a:r>
          </a:p>
          <a:p>
            <a:pPr algn="l">
              <a:lnSpc>
                <a:spcPct val="150000"/>
              </a:lnSpc>
            </a:pPr>
            <a:r>
              <a:rPr sz="1600" b="0">
                <a:solidFill>
                  <a:srgbClr val="141A22"/>
                </a:solidFill>
                <a:latin typeface="Lato"/>
              </a:rPr>
              <a:t>—  Secure room: images only, download 403</a:t>
            </a:r>
          </a:p>
        </p:txBody>
      </p:sp>
      <p:sp>
        <p:nvSpPr>
          <p:cNvPr id="10" name="Rectangle 9"/>
          <p:cNvSpPr/>
          <p:nvPr/>
        </p:nvSpPr>
        <p:spPr>
          <a:xfrm>
            <a:off x="6370167" y="2286000"/>
            <a:ext cx="457200" cy="45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70167" y="2514600"/>
            <a:ext cx="4998567" cy="548640"/>
          </a:xfrm>
          <a:prstGeom prst="rect">
            <a:avLst/>
          </a:prstGeom>
          <a:noFill/>
        </p:spPr>
        <p:txBody>
          <a:bodyPr wrap="square" anchor="t" lIns="0" rIns="0" tIns="0" bIns="0">
            <a:spAutoFit/>
          </a:bodyPr>
          <a:lstStyle/>
          <a:p>
            <a:pPr algn="l">
              <a:lnSpc>
                <a:spcPct val="115000"/>
              </a:lnSpc>
            </a:pPr>
            <a:r>
              <a:rPr sz="2200" b="1">
                <a:solidFill>
                  <a:srgbClr val="C62828"/>
                </a:solidFill>
                <a:latin typeface="Lato"/>
              </a:rPr>
              <a:t>Not yet</a:t>
            </a:r>
          </a:p>
        </p:txBody>
      </p:sp>
      <p:sp>
        <p:nvSpPr>
          <p:cNvPr id="12" name="TextBox 11"/>
          <p:cNvSpPr txBox="1"/>
          <p:nvPr/>
        </p:nvSpPr>
        <p:spPr>
          <a:xfrm>
            <a:off x="6370167" y="3154680"/>
            <a:ext cx="4998567" cy="3200400"/>
          </a:xfrm>
          <a:prstGeom prst="rect">
            <a:avLst/>
          </a:prstGeom>
          <a:noFill/>
        </p:spPr>
        <p:txBody>
          <a:bodyPr wrap="square" anchor="t" lIns="0" rIns="0" tIns="0" bIns="0">
            <a:spAutoFit/>
          </a:bodyPr>
          <a:lstStyle/>
          <a:p>
            <a:pPr algn="l">
              <a:lnSpc>
                <a:spcPct val="150000"/>
              </a:lnSpc>
            </a:pPr>
            <a:r>
              <a:rPr sz="1600" b="0">
                <a:solidFill>
                  <a:srgbClr val="141A22"/>
                </a:solidFill>
                <a:latin typeface="Lato"/>
              </a:rPr>
              <a:t>—  Sometimes too strict when a study mentions a prohibited topic</a:t>
            </a:r>
          </a:p>
          <a:p>
            <a:pPr algn="l">
              <a:lnSpc>
                <a:spcPct val="150000"/>
              </a:lnSpc>
            </a:pPr>
            <a:r>
              <a:rPr sz="1600" b="0">
                <a:solidFill>
                  <a:srgbClr val="141A22"/>
                </a:solidFill>
                <a:latin typeface="Lato"/>
              </a:rPr>
              <a:t>—  Cited point within Art. 53 can vary</a:t>
            </a:r>
          </a:p>
          <a:p>
            <a:pPr algn="l">
              <a:lnSpc>
                <a:spcPct val="150000"/>
              </a:lnSpc>
            </a:pPr>
            <a:r>
              <a:rPr sz="1600" b="0">
                <a:solidFill>
                  <a:srgbClr val="141A22"/>
                </a:solidFill>
                <a:latin typeface="Lato"/>
              </a:rPr>
              <a:t>—  Staff submission list is a placeholder</a:t>
            </a:r>
          </a:p>
          <a:p>
            <a:pPr algn="l">
              <a:lnSpc>
                <a:spcPct val="150000"/>
              </a:lnSpc>
            </a:pPr>
            <a:r>
              <a:rPr sz="1600" b="0">
                <a:solidFill>
                  <a:srgbClr val="141A22"/>
                </a:solidFill>
                <a:latin typeface="Lato"/>
              </a:rPr>
              <a:t>—  Screens can be photographed — true of every SPE</a:t>
            </a:r>
          </a:p>
        </p:txBody>
      </p:sp>
      <p:sp>
        <p:nvSpPr>
          <p:cNvPr id="13" name="TextBox 12"/>
          <p:cNvSpPr txBox="1"/>
          <p:nvPr/>
        </p:nvSpPr>
        <p:spPr>
          <a:xfrm>
            <a:off x="822960" y="5760720"/>
            <a:ext cx="10545775" cy="365760"/>
          </a:xfrm>
          <a:prstGeom prst="rect">
            <a:avLst/>
          </a:prstGeom>
          <a:noFill/>
        </p:spPr>
        <p:txBody>
          <a:bodyPr wrap="square" anchor="t" lIns="0" rIns="0" tIns="0" bIns="0">
            <a:spAutoFit/>
          </a:bodyPr>
          <a:lstStyle/>
          <a:p>
            <a:pPr algn="l">
              <a:lnSpc>
                <a:spcPct val="115000"/>
              </a:lnSpc>
            </a:pPr>
            <a:r>
              <a:rPr sz="1400" b="1">
                <a:solidFill>
                  <a:srgbClr val="1A5FB4"/>
                </a:solidFill>
                <a:latin typeface="Lato"/>
              </a:rPr>
              <a:t>github.com/MatthiasEbner2002/Track_3-HalfSecuredTeam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822960" y="2011680"/>
            <a:ext cx="73152" cy="2377440"/>
          </a:xfrm>
          <a:prstGeom prst="rect">
            <a:avLst/>
          </a:prstGeom>
          <a:solidFill>
            <a:srgbClr val="1A5F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234440" y="2011680"/>
            <a:ext cx="10058400" cy="2377440"/>
          </a:xfrm>
          <a:prstGeom prst="rect">
            <a:avLst/>
          </a:prstGeom>
          <a:noFill/>
        </p:spPr>
        <p:txBody>
          <a:bodyPr wrap="square" anchor="ctr" lIns="0" rIns="0" tIns="0" bIns="0">
            <a:spAutoFit/>
          </a:bodyPr>
          <a:lstStyle/>
          <a:p>
            <a:pPr algn="l">
              <a:lnSpc>
                <a:spcPct val="110000"/>
              </a:lnSpc>
            </a:pPr>
            <a:r>
              <a:rPr sz="3600" b="1">
                <a:solidFill>
                  <a:srgbClr val="141A22"/>
                </a:solidFill>
                <a:latin typeface="Lato"/>
              </a:rPr>
              <a:t>Decisions in seconds instead of weeks — every one explained, identical on every run.</a:t>
            </a:r>
          </a:p>
        </p:txBody>
      </p:sp>
      <p:sp>
        <p:nvSpPr>
          <p:cNvPr id="4" name="TextBox 3"/>
          <p:cNvSpPr txBox="1"/>
          <p:nvPr/>
        </p:nvSpPr>
        <p:spPr>
          <a:xfrm>
            <a:off x="1234440" y="4572000"/>
            <a:ext cx="10058400" cy="457200"/>
          </a:xfrm>
          <a:prstGeom prst="rect">
            <a:avLst/>
          </a:prstGeom>
          <a:noFill/>
        </p:spPr>
        <p:txBody>
          <a:bodyPr wrap="square" anchor="t" lIns="0" rIns="0" tIns="0" bIns="0">
            <a:spAutoFit/>
          </a:bodyPr>
          <a:lstStyle/>
          <a:p>
            <a:pPr algn="l">
              <a:lnSpc>
                <a:spcPct val="115000"/>
              </a:lnSpc>
            </a:pPr>
            <a:r>
              <a:rPr sz="1600" b="0">
                <a:solidFill>
                  <a:srgbClr val="6B7480"/>
                </a:solidFill>
                <a:latin typeface="Lato"/>
              </a:rPr>
              <a:t>Thank you  ·  github.com/MatthiasEbner2002/Track_3-HalfSecuredTeam</a:t>
            </a:r>
          </a:p>
        </p:txBody>
      </p:sp>
      <p:sp>
        <p:nvSpPr>
          <p:cNvPr id="5" name="TextBox 4"/>
          <p:cNvSpPr txBox="1"/>
          <p:nvPr/>
        </p:nvSpPr>
        <p:spPr>
          <a:xfrm>
            <a:off x="822960" y="6355080"/>
            <a:ext cx="7315200" cy="274320"/>
          </a:xfrm>
          <a:prstGeom prst="rect">
            <a:avLst/>
          </a:prstGeom>
          <a:noFill/>
        </p:spPr>
        <p:txBody>
          <a:bodyPr wrap="square" anchor="t" lIns="0" rIns="0" tIns="0" bIns="0">
            <a:spAutoFit/>
          </a:bodyPr>
          <a:lstStyle/>
          <a:p>
            <a:pPr algn="l">
              <a:lnSpc>
                <a:spcPct val="115000"/>
              </a:lnSpc>
            </a:pPr>
            <a:r>
              <a:rPr sz="1100" b="0">
                <a:solidFill>
                  <a:srgbClr val="6B7480"/>
                </a:solidFill>
                <a:latin typeface="Lato"/>
              </a:rPr>
              <a:t>HalfSecuredTeam  ·  EHDS Track 3</a:t>
            </a:r>
          </a:p>
        </p:txBody>
      </p:sp>
      <p:sp>
        <p:nvSpPr>
          <p:cNvPr id="6" name="TextBox 5"/>
          <p:cNvSpPr txBox="1"/>
          <p:nvPr/>
        </p:nvSpPr>
        <p:spPr>
          <a:xfrm>
            <a:off x="10454335" y="6355080"/>
            <a:ext cx="914400" cy="274320"/>
          </a:xfrm>
          <a:prstGeom prst="rect">
            <a:avLst/>
          </a:prstGeom>
          <a:noFill/>
        </p:spPr>
        <p:txBody>
          <a:bodyPr wrap="square" anchor="t" lIns="0" rIns="0" tIns="0" bIns="0">
            <a:spAutoFit/>
          </a:bodyPr>
          <a:lstStyle/>
          <a:p>
            <a:pPr algn="r">
              <a:lnSpc>
                <a:spcPct val="115000"/>
              </a:lnSpc>
            </a:pPr>
            <a:r>
              <a:rPr sz="1100" b="0">
                <a:solidFill>
                  <a:srgbClr val="6B7480"/>
                </a:solidFill>
                <a:latin typeface="Lato"/>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685800"/>
            <a:ext cx="10545775" cy="274320"/>
          </a:xfrm>
          <a:prstGeom prst="rect">
            <a:avLst/>
          </a:prstGeom>
          <a:noFill/>
        </p:spPr>
        <p:txBody>
          <a:bodyPr wrap="square" anchor="t" lIns="0" rIns="0" tIns="0" bIns="0">
            <a:spAutoFit/>
          </a:bodyPr>
          <a:lstStyle/>
          <a:p>
            <a:pPr algn="l">
              <a:lnSpc>
                <a:spcPct val="115000"/>
              </a:lnSpc>
            </a:pPr>
            <a:r>
              <a:rPr sz="1200" b="1">
                <a:solidFill>
                  <a:srgbClr val="1A5FB4"/>
                </a:solidFill>
                <a:latin typeface="Lato"/>
              </a:rPr>
              <a:t>KICKER</a:t>
            </a:r>
          </a:p>
        </p:txBody>
      </p:sp>
      <p:sp>
        <p:nvSpPr>
          <p:cNvPr id="3" name="TextBox 2"/>
          <p:cNvSpPr txBox="1"/>
          <p:nvPr/>
        </p:nvSpPr>
        <p:spPr>
          <a:xfrm>
            <a:off x="822960" y="1005840"/>
            <a:ext cx="10545775" cy="822960"/>
          </a:xfrm>
          <a:prstGeom prst="rect">
            <a:avLst/>
          </a:prstGeom>
          <a:noFill/>
        </p:spPr>
        <p:txBody>
          <a:bodyPr wrap="square" anchor="t" lIns="0" rIns="0" tIns="0" bIns="0">
            <a:spAutoFit/>
          </a:bodyPr>
          <a:lstStyle/>
          <a:p>
            <a:pPr algn="l">
              <a:lnSpc>
                <a:spcPct val="115000"/>
              </a:lnSpc>
            </a:pPr>
            <a:r>
              <a:rPr sz="3400" b="1">
                <a:solidFill>
                  <a:srgbClr val="141A22"/>
                </a:solidFill>
                <a:latin typeface="Lato"/>
              </a:rPr>
              <a:t>Content slide title</a:t>
            </a:r>
          </a:p>
        </p:txBody>
      </p:sp>
      <p:sp>
        <p:nvSpPr>
          <p:cNvPr id="4" name="Rectangle 3"/>
          <p:cNvSpPr/>
          <p:nvPr/>
        </p:nvSpPr>
        <p:spPr>
          <a:xfrm>
            <a:off x="822960" y="1874520"/>
            <a:ext cx="640080" cy="45720"/>
          </a:xfrm>
          <a:prstGeom prst="rect">
            <a:avLst/>
          </a:prstGeom>
          <a:solidFill>
            <a:srgbClr val="1A5F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6355080"/>
            <a:ext cx="7315200" cy="274320"/>
          </a:xfrm>
          <a:prstGeom prst="rect">
            <a:avLst/>
          </a:prstGeom>
          <a:noFill/>
        </p:spPr>
        <p:txBody>
          <a:bodyPr wrap="square" anchor="t" lIns="0" rIns="0" tIns="0" bIns="0">
            <a:spAutoFit/>
          </a:bodyPr>
          <a:lstStyle/>
          <a:p>
            <a:pPr algn="l">
              <a:lnSpc>
                <a:spcPct val="115000"/>
              </a:lnSpc>
            </a:pPr>
            <a:r>
              <a:rPr sz="1100" b="0">
                <a:solidFill>
                  <a:srgbClr val="6B7480"/>
                </a:solidFill>
                <a:latin typeface="Lato"/>
              </a:rPr>
              <a:t>HalfSecuredTeam  ·  EHDS Track 3</a:t>
            </a:r>
          </a:p>
        </p:txBody>
      </p:sp>
      <p:sp>
        <p:nvSpPr>
          <p:cNvPr id="6" name="TextBox 5"/>
          <p:cNvSpPr txBox="1"/>
          <p:nvPr/>
        </p:nvSpPr>
        <p:spPr>
          <a:xfrm>
            <a:off x="10454335" y="6355080"/>
            <a:ext cx="914400" cy="274320"/>
          </a:xfrm>
          <a:prstGeom prst="rect">
            <a:avLst/>
          </a:prstGeom>
          <a:noFill/>
        </p:spPr>
        <p:txBody>
          <a:bodyPr wrap="square" anchor="t" lIns="0" rIns="0" tIns="0" bIns="0">
            <a:spAutoFit/>
          </a:bodyPr>
          <a:lstStyle/>
          <a:p>
            <a:pPr algn="r">
              <a:lnSpc>
                <a:spcPct val="115000"/>
              </a:lnSpc>
            </a:pPr>
            <a:r>
              <a:rPr sz="1100" b="0">
                <a:solidFill>
                  <a:srgbClr val="6B7480"/>
                </a:solidFill>
                <a:latin typeface="Lato"/>
              </a:rPr>
              <a:t>8</a:t>
            </a:r>
          </a:p>
        </p:txBody>
      </p:sp>
      <p:sp>
        <p:nvSpPr>
          <p:cNvPr id="7" name="TextBox 6"/>
          <p:cNvSpPr txBox="1"/>
          <p:nvPr/>
        </p:nvSpPr>
        <p:spPr>
          <a:xfrm>
            <a:off x="822960" y="2286000"/>
            <a:ext cx="10545775" cy="2743200"/>
          </a:xfrm>
          <a:prstGeom prst="rect">
            <a:avLst/>
          </a:prstGeom>
          <a:noFill/>
        </p:spPr>
        <p:txBody>
          <a:bodyPr wrap="square" anchor="t" lIns="0" rIns="0" tIns="0" bIns="0">
            <a:spAutoFit/>
          </a:bodyPr>
          <a:lstStyle/>
          <a:p>
            <a:pPr algn="l">
              <a:lnSpc>
                <a:spcPct val="150000"/>
              </a:lnSpc>
            </a:pPr>
            <a:r>
              <a:rPr sz="2000" b="0">
                <a:solidFill>
                  <a:srgbClr val="141A22"/>
                </a:solidFill>
                <a:latin typeface="Lato"/>
              </a:rPr>
              <a:t>Body text, 20 pt. One thought per line.</a:t>
            </a:r>
          </a:p>
          <a:p>
            <a:pPr algn="l">
              <a:lnSpc>
                <a:spcPct val="150000"/>
              </a:lnSpc>
            </a:pPr>
            <a:r>
              <a:rPr sz="2000" b="0">
                <a:solidFill>
                  <a:srgbClr val="141A22"/>
                </a:solidFill>
                <a:latin typeface="Lato"/>
              </a:rPr>
              <a:t>Second line.</a:t>
            </a:r>
          </a:p>
          <a:p>
            <a:pPr algn="l">
              <a:lnSpc>
                <a:spcPct val="150000"/>
              </a:lnSpc>
            </a:pPr>
            <a:r>
              <a:rPr sz="2000" b="0">
                <a:solidFill>
                  <a:srgbClr val="141A22"/>
                </a:solidFill>
                <a:latin typeface="Lato"/>
              </a:rPr>
              <a:t>Third line.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685800"/>
            <a:ext cx="10545775" cy="274320"/>
          </a:xfrm>
          <a:prstGeom prst="rect">
            <a:avLst/>
          </a:prstGeom>
          <a:noFill/>
        </p:spPr>
        <p:txBody>
          <a:bodyPr wrap="square" anchor="t" lIns="0" rIns="0" tIns="0" bIns="0">
            <a:spAutoFit/>
          </a:bodyPr>
          <a:lstStyle/>
          <a:p>
            <a:pPr algn="l">
              <a:lnSpc>
                <a:spcPct val="115000"/>
              </a:lnSpc>
            </a:pPr>
            <a:r>
              <a:rPr sz="1200" b="1">
                <a:solidFill>
                  <a:srgbClr val="1A5FB4"/>
                </a:solidFill>
                <a:latin typeface="Lato"/>
              </a:rPr>
              <a:t>KICKER</a:t>
            </a:r>
          </a:p>
        </p:txBody>
      </p:sp>
      <p:sp>
        <p:nvSpPr>
          <p:cNvPr id="3" name="TextBox 2"/>
          <p:cNvSpPr txBox="1"/>
          <p:nvPr/>
        </p:nvSpPr>
        <p:spPr>
          <a:xfrm>
            <a:off x="822960" y="1005840"/>
            <a:ext cx="10545775" cy="822960"/>
          </a:xfrm>
          <a:prstGeom prst="rect">
            <a:avLst/>
          </a:prstGeom>
          <a:noFill/>
        </p:spPr>
        <p:txBody>
          <a:bodyPr wrap="square" anchor="t" lIns="0" rIns="0" tIns="0" bIns="0">
            <a:spAutoFit/>
          </a:bodyPr>
          <a:lstStyle/>
          <a:p>
            <a:pPr algn="l">
              <a:lnSpc>
                <a:spcPct val="115000"/>
              </a:lnSpc>
            </a:pPr>
            <a:r>
              <a:rPr sz="3400" b="1">
                <a:solidFill>
                  <a:srgbClr val="141A22"/>
                </a:solidFill>
                <a:latin typeface="Lato"/>
              </a:rPr>
              <a:t>Two columns</a:t>
            </a:r>
          </a:p>
        </p:txBody>
      </p:sp>
      <p:sp>
        <p:nvSpPr>
          <p:cNvPr id="4" name="Rectangle 3"/>
          <p:cNvSpPr/>
          <p:nvPr/>
        </p:nvSpPr>
        <p:spPr>
          <a:xfrm>
            <a:off x="822960" y="1874520"/>
            <a:ext cx="640080" cy="45720"/>
          </a:xfrm>
          <a:prstGeom prst="rect">
            <a:avLst/>
          </a:prstGeom>
          <a:solidFill>
            <a:srgbClr val="1A5F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6355080"/>
            <a:ext cx="7315200" cy="274320"/>
          </a:xfrm>
          <a:prstGeom prst="rect">
            <a:avLst/>
          </a:prstGeom>
          <a:noFill/>
        </p:spPr>
        <p:txBody>
          <a:bodyPr wrap="square" anchor="t" lIns="0" rIns="0" tIns="0" bIns="0">
            <a:spAutoFit/>
          </a:bodyPr>
          <a:lstStyle/>
          <a:p>
            <a:pPr algn="l">
              <a:lnSpc>
                <a:spcPct val="115000"/>
              </a:lnSpc>
            </a:pPr>
            <a:r>
              <a:rPr sz="1100" b="0">
                <a:solidFill>
                  <a:srgbClr val="6B7480"/>
                </a:solidFill>
                <a:latin typeface="Lato"/>
              </a:rPr>
              <a:t>HalfSecuredTeam  ·  EHDS Track 3</a:t>
            </a:r>
          </a:p>
        </p:txBody>
      </p:sp>
      <p:sp>
        <p:nvSpPr>
          <p:cNvPr id="6" name="TextBox 5"/>
          <p:cNvSpPr txBox="1"/>
          <p:nvPr/>
        </p:nvSpPr>
        <p:spPr>
          <a:xfrm>
            <a:off x="10454335" y="6355080"/>
            <a:ext cx="914400" cy="274320"/>
          </a:xfrm>
          <a:prstGeom prst="rect">
            <a:avLst/>
          </a:prstGeom>
          <a:noFill/>
        </p:spPr>
        <p:txBody>
          <a:bodyPr wrap="square" anchor="t" lIns="0" rIns="0" tIns="0" bIns="0">
            <a:spAutoFit/>
          </a:bodyPr>
          <a:lstStyle/>
          <a:p>
            <a:pPr algn="r">
              <a:lnSpc>
                <a:spcPct val="115000"/>
              </a:lnSpc>
            </a:pPr>
            <a:r>
              <a:rPr sz="1100" b="0">
                <a:solidFill>
                  <a:srgbClr val="6B7480"/>
                </a:solidFill>
                <a:latin typeface="Lato"/>
              </a:rPr>
              <a:t>9</a:t>
            </a:r>
          </a:p>
        </p:txBody>
      </p:sp>
      <p:sp>
        <p:nvSpPr>
          <p:cNvPr id="7" name="Rectangle 6"/>
          <p:cNvSpPr/>
          <p:nvPr/>
        </p:nvSpPr>
        <p:spPr>
          <a:xfrm>
            <a:off x="822960" y="2834640"/>
            <a:ext cx="457200" cy="54864"/>
          </a:xfrm>
          <a:prstGeom prst="rect">
            <a:avLst/>
          </a:prstGeom>
          <a:solidFill>
            <a:srgbClr val="1A5F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3108960"/>
            <a:ext cx="5044287" cy="1005840"/>
          </a:xfrm>
          <a:prstGeom prst="rect">
            <a:avLst/>
          </a:prstGeom>
          <a:noFill/>
        </p:spPr>
        <p:txBody>
          <a:bodyPr wrap="square" anchor="t" lIns="0" rIns="0" tIns="0" bIns="0">
            <a:spAutoFit/>
          </a:bodyPr>
          <a:lstStyle/>
          <a:p>
            <a:pPr algn="l">
              <a:lnSpc>
                <a:spcPct val="110000"/>
              </a:lnSpc>
            </a:pPr>
            <a:r>
              <a:rPr sz="2400" b="1">
                <a:solidFill>
                  <a:srgbClr val="141A22"/>
                </a:solidFill>
                <a:latin typeface="Lato"/>
              </a:rPr>
              <a:t>Left heading</a:t>
            </a:r>
          </a:p>
        </p:txBody>
      </p:sp>
      <p:sp>
        <p:nvSpPr>
          <p:cNvPr id="9" name="TextBox 8"/>
          <p:cNvSpPr txBox="1"/>
          <p:nvPr/>
        </p:nvSpPr>
        <p:spPr>
          <a:xfrm>
            <a:off x="822960" y="4160520"/>
            <a:ext cx="5044287" cy="2286000"/>
          </a:xfrm>
          <a:prstGeom prst="rect">
            <a:avLst/>
          </a:prstGeom>
          <a:noFill/>
        </p:spPr>
        <p:txBody>
          <a:bodyPr wrap="square" anchor="t" lIns="0" rIns="0" tIns="0" bIns="0">
            <a:spAutoFit/>
          </a:bodyPr>
          <a:lstStyle/>
          <a:p>
            <a:pPr algn="l">
              <a:lnSpc>
                <a:spcPct val="135000"/>
              </a:lnSpc>
            </a:pPr>
            <a:r>
              <a:rPr sz="1800" b="0">
                <a:solidFill>
                  <a:srgbClr val="6B7480"/>
                </a:solidFill>
                <a:latin typeface="Lato"/>
              </a:rPr>
              <a:t>one short line</a:t>
            </a:r>
          </a:p>
        </p:txBody>
      </p:sp>
      <p:sp>
        <p:nvSpPr>
          <p:cNvPr id="10" name="Rectangle 9"/>
          <p:cNvSpPr/>
          <p:nvPr/>
        </p:nvSpPr>
        <p:spPr>
          <a:xfrm>
            <a:off x="6324447" y="2834640"/>
            <a:ext cx="457200" cy="54864"/>
          </a:xfrm>
          <a:prstGeom prst="rect">
            <a:avLst/>
          </a:prstGeom>
          <a:solidFill>
            <a:srgbClr val="1A5F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24447" y="3108960"/>
            <a:ext cx="5044287" cy="1005840"/>
          </a:xfrm>
          <a:prstGeom prst="rect">
            <a:avLst/>
          </a:prstGeom>
          <a:noFill/>
        </p:spPr>
        <p:txBody>
          <a:bodyPr wrap="square" anchor="t" lIns="0" rIns="0" tIns="0" bIns="0">
            <a:spAutoFit/>
          </a:bodyPr>
          <a:lstStyle/>
          <a:p>
            <a:pPr algn="l">
              <a:lnSpc>
                <a:spcPct val="110000"/>
              </a:lnSpc>
            </a:pPr>
            <a:r>
              <a:rPr sz="2400" b="1">
                <a:solidFill>
                  <a:srgbClr val="141A22"/>
                </a:solidFill>
                <a:latin typeface="Lato"/>
              </a:rPr>
              <a:t>Right heading</a:t>
            </a:r>
          </a:p>
        </p:txBody>
      </p:sp>
      <p:sp>
        <p:nvSpPr>
          <p:cNvPr id="12" name="TextBox 11"/>
          <p:cNvSpPr txBox="1"/>
          <p:nvPr/>
        </p:nvSpPr>
        <p:spPr>
          <a:xfrm>
            <a:off x="6324447" y="4160520"/>
            <a:ext cx="5044287" cy="2286000"/>
          </a:xfrm>
          <a:prstGeom prst="rect">
            <a:avLst/>
          </a:prstGeom>
          <a:noFill/>
        </p:spPr>
        <p:txBody>
          <a:bodyPr wrap="square" anchor="t" lIns="0" rIns="0" tIns="0" bIns="0">
            <a:spAutoFit/>
          </a:bodyPr>
          <a:lstStyle/>
          <a:p>
            <a:pPr algn="l">
              <a:lnSpc>
                <a:spcPct val="135000"/>
              </a:lnSpc>
            </a:pPr>
            <a:r>
              <a:rPr sz="1800" b="0">
                <a:solidFill>
                  <a:srgbClr val="6B7480"/>
                </a:solidFill>
                <a:latin typeface="Lato"/>
              </a:rPr>
              <a:t>one short line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685800"/>
            <a:ext cx="10545775" cy="274320"/>
          </a:xfrm>
          <a:prstGeom prst="rect">
            <a:avLst/>
          </a:prstGeom>
          <a:noFill/>
        </p:spPr>
        <p:txBody>
          <a:bodyPr wrap="square" anchor="t" lIns="0" rIns="0" tIns="0" bIns="0">
            <a:spAutoFit/>
          </a:bodyPr>
          <a:lstStyle/>
          <a:p>
            <a:pPr algn="l">
              <a:lnSpc>
                <a:spcPct val="115000"/>
              </a:lnSpc>
            </a:pPr>
            <a:r>
              <a:rPr sz="1200" b="1">
                <a:solidFill>
                  <a:srgbClr val="1A5FB4"/>
                </a:solidFill>
                <a:latin typeface="Lato"/>
              </a:rPr>
              <a:t>KICKER</a:t>
            </a:r>
          </a:p>
        </p:txBody>
      </p:sp>
      <p:sp>
        <p:nvSpPr>
          <p:cNvPr id="3" name="TextBox 2"/>
          <p:cNvSpPr txBox="1"/>
          <p:nvPr/>
        </p:nvSpPr>
        <p:spPr>
          <a:xfrm>
            <a:off x="822960" y="1005840"/>
            <a:ext cx="10545775" cy="822960"/>
          </a:xfrm>
          <a:prstGeom prst="rect">
            <a:avLst/>
          </a:prstGeom>
          <a:noFill/>
        </p:spPr>
        <p:txBody>
          <a:bodyPr wrap="square" anchor="t" lIns="0" rIns="0" tIns="0" bIns="0">
            <a:spAutoFit/>
          </a:bodyPr>
          <a:lstStyle/>
          <a:p>
            <a:pPr algn="l">
              <a:lnSpc>
                <a:spcPct val="115000"/>
              </a:lnSpc>
            </a:pPr>
            <a:r>
              <a:rPr sz="3400" b="1">
                <a:solidFill>
                  <a:srgbClr val="141A22"/>
                </a:solidFill>
                <a:latin typeface="Lato"/>
              </a:rPr>
              <a:t>Image slide</a:t>
            </a:r>
          </a:p>
        </p:txBody>
      </p:sp>
      <p:sp>
        <p:nvSpPr>
          <p:cNvPr id="4" name="Rectangle 3"/>
          <p:cNvSpPr/>
          <p:nvPr/>
        </p:nvSpPr>
        <p:spPr>
          <a:xfrm>
            <a:off x="822960" y="1874520"/>
            <a:ext cx="640080" cy="45720"/>
          </a:xfrm>
          <a:prstGeom prst="rect">
            <a:avLst/>
          </a:prstGeom>
          <a:solidFill>
            <a:srgbClr val="1A5F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6355080"/>
            <a:ext cx="7315200" cy="274320"/>
          </a:xfrm>
          <a:prstGeom prst="rect">
            <a:avLst/>
          </a:prstGeom>
          <a:noFill/>
        </p:spPr>
        <p:txBody>
          <a:bodyPr wrap="square" anchor="t" lIns="0" rIns="0" tIns="0" bIns="0">
            <a:spAutoFit/>
          </a:bodyPr>
          <a:lstStyle/>
          <a:p>
            <a:pPr algn="l">
              <a:lnSpc>
                <a:spcPct val="115000"/>
              </a:lnSpc>
            </a:pPr>
            <a:r>
              <a:rPr sz="1100" b="0">
                <a:solidFill>
                  <a:srgbClr val="6B7480"/>
                </a:solidFill>
                <a:latin typeface="Lato"/>
              </a:rPr>
              <a:t>HalfSecuredTeam  ·  EHDS Track 3</a:t>
            </a:r>
          </a:p>
        </p:txBody>
      </p:sp>
      <p:sp>
        <p:nvSpPr>
          <p:cNvPr id="6" name="TextBox 5"/>
          <p:cNvSpPr txBox="1"/>
          <p:nvPr/>
        </p:nvSpPr>
        <p:spPr>
          <a:xfrm>
            <a:off x="10454335" y="6355080"/>
            <a:ext cx="914400" cy="274320"/>
          </a:xfrm>
          <a:prstGeom prst="rect">
            <a:avLst/>
          </a:prstGeom>
          <a:noFill/>
        </p:spPr>
        <p:txBody>
          <a:bodyPr wrap="square" anchor="t" lIns="0" rIns="0" tIns="0" bIns="0">
            <a:spAutoFit/>
          </a:bodyPr>
          <a:lstStyle/>
          <a:p>
            <a:pPr algn="r">
              <a:lnSpc>
                <a:spcPct val="115000"/>
              </a:lnSpc>
            </a:pPr>
            <a:r>
              <a:rPr sz="1100" b="0">
                <a:solidFill>
                  <a:srgbClr val="6B7480"/>
                </a:solidFill>
                <a:latin typeface="Lato"/>
              </a:rPr>
              <a:t>10</a:t>
            </a:r>
          </a:p>
        </p:txBody>
      </p:sp>
      <p:sp>
        <p:nvSpPr>
          <p:cNvPr id="7" name="Rounded Rectangle 6"/>
          <p:cNvSpPr/>
          <p:nvPr/>
        </p:nvSpPr>
        <p:spPr>
          <a:xfrm>
            <a:off x="822960" y="2286000"/>
            <a:ext cx="10545775" cy="3840480"/>
          </a:xfrm>
          <a:prstGeom prst="roundRect">
            <a:avLst>
              <a:gd name="adj" fmla="val 6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286000"/>
            <a:ext cx="10545775" cy="3840480"/>
          </a:xfrm>
          <a:prstGeom prst="rect">
            <a:avLst/>
          </a:prstGeom>
          <a:noFill/>
        </p:spPr>
        <p:txBody>
          <a:bodyPr wrap="square" anchor="ctr" lIns="0" rIns="0" tIns="0" bIns="0">
            <a:spAutoFit/>
          </a:bodyPr>
          <a:lstStyle/>
          <a:p>
            <a:pPr algn="ctr">
              <a:lnSpc>
                <a:spcPct val="115000"/>
              </a:lnSpc>
            </a:pPr>
            <a:r>
              <a:rPr sz="1600" b="0">
                <a:solidFill>
                  <a:srgbClr val="6B7480"/>
                </a:solidFill>
                <a:latin typeface="Lato"/>
              </a:rPr>
              <a:t>image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822960" y="2011680"/>
            <a:ext cx="73152" cy="2377440"/>
          </a:xfrm>
          <a:prstGeom prst="rect">
            <a:avLst/>
          </a:prstGeom>
          <a:solidFill>
            <a:srgbClr val="1A5F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234440" y="2011680"/>
            <a:ext cx="10058400" cy="2377440"/>
          </a:xfrm>
          <a:prstGeom prst="rect">
            <a:avLst/>
          </a:prstGeom>
          <a:noFill/>
        </p:spPr>
        <p:txBody>
          <a:bodyPr wrap="square" anchor="ctr" lIns="0" rIns="0" tIns="0" bIns="0">
            <a:spAutoFit/>
          </a:bodyPr>
          <a:lstStyle/>
          <a:p>
            <a:pPr algn="l">
              <a:lnSpc>
                <a:spcPct val="110000"/>
              </a:lnSpc>
            </a:pPr>
            <a:r>
              <a:rPr sz="3600" b="1">
                <a:solidFill>
                  <a:srgbClr val="141A22"/>
                </a:solidFill>
                <a:latin typeface="Lato"/>
              </a:rPr>
              <a:t>A single sentence that matters.</a:t>
            </a:r>
          </a:p>
        </p:txBody>
      </p:sp>
      <p:sp>
        <p:nvSpPr>
          <p:cNvPr id="4" name="TextBox 3"/>
          <p:cNvSpPr txBox="1"/>
          <p:nvPr/>
        </p:nvSpPr>
        <p:spPr>
          <a:xfrm>
            <a:off x="1234440" y="4572000"/>
            <a:ext cx="10058400" cy="457200"/>
          </a:xfrm>
          <a:prstGeom prst="rect">
            <a:avLst/>
          </a:prstGeom>
          <a:noFill/>
        </p:spPr>
        <p:txBody>
          <a:bodyPr wrap="square" anchor="t" lIns="0" rIns="0" tIns="0" bIns="0">
            <a:spAutoFit/>
          </a:bodyPr>
          <a:lstStyle/>
          <a:p>
            <a:pPr algn="l">
              <a:lnSpc>
                <a:spcPct val="115000"/>
              </a:lnSpc>
            </a:pPr>
            <a:r>
              <a:rPr sz="1600" b="0">
                <a:solidFill>
                  <a:srgbClr val="6B7480"/>
                </a:solidFill>
                <a:latin typeface="Lato"/>
              </a:rPr>
              <a:t>optional small line</a:t>
            </a:r>
          </a:p>
        </p:txBody>
      </p:sp>
      <p:sp>
        <p:nvSpPr>
          <p:cNvPr id="5" name="TextBox 4"/>
          <p:cNvSpPr txBox="1"/>
          <p:nvPr/>
        </p:nvSpPr>
        <p:spPr>
          <a:xfrm>
            <a:off x="822960" y="6355080"/>
            <a:ext cx="7315200" cy="274320"/>
          </a:xfrm>
          <a:prstGeom prst="rect">
            <a:avLst/>
          </a:prstGeom>
          <a:noFill/>
        </p:spPr>
        <p:txBody>
          <a:bodyPr wrap="square" anchor="t" lIns="0" rIns="0" tIns="0" bIns="0">
            <a:spAutoFit/>
          </a:bodyPr>
          <a:lstStyle/>
          <a:p>
            <a:pPr algn="l">
              <a:lnSpc>
                <a:spcPct val="115000"/>
              </a:lnSpc>
            </a:pPr>
            <a:r>
              <a:rPr sz="1100" b="0">
                <a:solidFill>
                  <a:srgbClr val="6B7480"/>
                </a:solidFill>
                <a:latin typeface="Lato"/>
              </a:rPr>
              <a:t>HalfSecuredTeam  ·  EHDS Track 3</a:t>
            </a:r>
          </a:p>
        </p:txBody>
      </p:sp>
      <p:sp>
        <p:nvSpPr>
          <p:cNvPr id="6" name="TextBox 5"/>
          <p:cNvSpPr txBox="1"/>
          <p:nvPr/>
        </p:nvSpPr>
        <p:spPr>
          <a:xfrm>
            <a:off x="10454335" y="6355080"/>
            <a:ext cx="914400" cy="274320"/>
          </a:xfrm>
          <a:prstGeom prst="rect">
            <a:avLst/>
          </a:prstGeom>
          <a:noFill/>
        </p:spPr>
        <p:txBody>
          <a:bodyPr wrap="square" anchor="t" lIns="0" rIns="0" tIns="0" bIns="0">
            <a:spAutoFit/>
          </a:bodyPr>
          <a:lstStyle/>
          <a:p>
            <a:pPr algn="r">
              <a:lnSpc>
                <a:spcPct val="115000"/>
              </a:lnSpc>
            </a:pPr>
            <a:r>
              <a:rPr sz="1100" b="0">
                <a:solidFill>
                  <a:srgbClr val="6B7480"/>
                </a:solidFill>
                <a:latin typeface="Lato"/>
              </a:rPr>
              <a:t>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